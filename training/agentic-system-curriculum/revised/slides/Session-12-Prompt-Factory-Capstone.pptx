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6468717d94417b" /><Relationship Type="http://schemas.openxmlformats.org/officeDocument/2006/relationships/extended-properties" Target="/docProps/app.xml" Id="R2b5293cb45e44f1e" /><Relationship Type="http://schemas.openxmlformats.org/officeDocument/2006/relationships/officeDocument" Target="/ppt/presentation.xml" Id="Rf126946dfcc14800" /></Relationships>
</file>

<file path=ppt/presentation.xml><?xml version="1.0" encoding="utf-8"?>
<p:presentation xmlns:p="http://schemas.openxmlformats.org/presentationml/2006/main">
  <p:sldMasterIdLst>
    <p:sldMasterId xmlns:r="http://schemas.openxmlformats.org/officeDocument/2006/relationships" id="2147483648" r:id="Rf4536cea19c34af8"/>
  </p:sldMasterIdLst>
  <p:notesMasterIdLst>
    <p:notesMasterId xmlns:r="http://schemas.openxmlformats.org/officeDocument/2006/relationships" r:id="Rc190e101845f4084"/>
  </p:notesMasterIdLst>
  <p:sldIdLst>
    <p:sldId xmlns:r="http://schemas.openxmlformats.org/officeDocument/2006/relationships" id="256" r:id="Rda690a3fb856460c"/>
    <p:sldId xmlns:r="http://schemas.openxmlformats.org/officeDocument/2006/relationships" id="257" r:id="Rc4de11f1774a40fa"/>
    <p:sldId xmlns:r="http://schemas.openxmlformats.org/officeDocument/2006/relationships" id="258" r:id="Ra63a1ff2a5c04e86"/>
    <p:sldId xmlns:r="http://schemas.openxmlformats.org/officeDocument/2006/relationships" id="259" r:id="R56049eabbd524c8a"/>
    <p:sldId xmlns:r="http://schemas.openxmlformats.org/officeDocument/2006/relationships" id="260" r:id="R4ad153d17c7b4775"/>
    <p:sldId xmlns:r="http://schemas.openxmlformats.org/officeDocument/2006/relationships" id="261" r:id="Rf7afa2a95a4d4ebe"/>
    <p:sldId xmlns:r="http://schemas.openxmlformats.org/officeDocument/2006/relationships" id="262" r:id="R536009ba2e6b44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e997d3d00d4dd4" /><Relationship Type="http://schemas.openxmlformats.org/officeDocument/2006/relationships/slideMaster" Target="/ppt/slideMasters/slideMaster1.xml" Id="Rf4536cea19c34af8" /><Relationship Type="http://schemas.openxmlformats.org/officeDocument/2006/relationships/notesMaster" Target="/ppt/notesMasters/notesMaster1.xml" Id="Rc190e101845f4084" /><Relationship Type="http://schemas.openxmlformats.org/officeDocument/2006/relationships/presProps" Target="/ppt/presProps.xml" Id="Ra48cfbd6601f4a64" /><Relationship Type="http://schemas.openxmlformats.org/officeDocument/2006/relationships/tableStyles" Target="/ppt/tableStyles.xml" Id="Re6850419c5cc4216" /><Relationship Type="http://schemas.openxmlformats.org/officeDocument/2006/relationships/slide" Target="/ppt/slides/slide1.xml" Id="Rda690a3fb856460c" /><Relationship Type="http://schemas.openxmlformats.org/officeDocument/2006/relationships/slide" Target="/ppt/slides/slide2.xml" Id="Rc4de11f1774a40fa" /><Relationship Type="http://schemas.openxmlformats.org/officeDocument/2006/relationships/slide" Target="/ppt/slides/slide3.xml" Id="Ra63a1ff2a5c04e86" /><Relationship Type="http://schemas.openxmlformats.org/officeDocument/2006/relationships/slide" Target="/ppt/slides/slide4.xml" Id="R56049eabbd524c8a" /><Relationship Type="http://schemas.openxmlformats.org/officeDocument/2006/relationships/slide" Target="/ppt/slides/slide5.xml" Id="R4ad153d17c7b4775" /><Relationship Type="http://schemas.openxmlformats.org/officeDocument/2006/relationships/slide" Target="/ppt/slides/slide6.xml" Id="Rf7afa2a95a4d4ebe" /><Relationship Type="http://schemas.openxmlformats.org/officeDocument/2006/relationships/slide" Target="/ppt/slides/slide7.xml" Id="R536009ba2e6b44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e53a2facd840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282cdcfd074359" /><Relationship Type="http://schemas.openxmlformats.org/officeDocument/2006/relationships/notesMaster" Target="/ppt/notesMasters/notesMaster1.xml" Id="R55b9b41918524de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b1c209191f4633" /><Relationship Type="http://schemas.openxmlformats.org/officeDocument/2006/relationships/notesMaster" Target="/ppt/notesMasters/notesMaster1.xml" Id="Rde9f56382b114c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3aa69ea4f14583" /><Relationship Type="http://schemas.openxmlformats.org/officeDocument/2006/relationships/notesMaster" Target="/ppt/notesMasters/notesMaster1.xml" Id="R4990a5f5d2414fe5" /></Relationships>
</file>

<file path=ppt/notesSlides/_rels/notesSlide4.xml.rels>&#65279;<?xml version="1.0" encoding="utf-8"?><Relationships xmlns="http://schemas.openxmlformats.org/package/2006/relationships"><Relationship Type="http://schemas.openxmlformats.org/officeDocument/2006/relationships/slide" Target="/ppt/slides/slide4.xml" Id="Raef599516dca4c7e" /><Relationship Type="http://schemas.openxmlformats.org/officeDocument/2006/relationships/notesMaster" Target="/ppt/notesMasters/notesMaster1.xml" Id="R5e7ecd3fb2d945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7d943843144a29" /><Relationship Type="http://schemas.openxmlformats.org/officeDocument/2006/relationships/notesMaster" Target="/ppt/notesMasters/notesMaster1.xml" Id="R053e8a45ee7e43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f6a36b24a54c1b" /><Relationship Type="http://schemas.openxmlformats.org/officeDocument/2006/relationships/notesMaster" Target="/ppt/notesMasters/notesMaster1.xml" Id="Re8ca7444f06b4f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f08b14a2e14d0c" /><Relationship Type="http://schemas.openxmlformats.org/officeDocument/2006/relationships/notesMaster" Target="/ppt/notesMasters/notesMaster1.xml" Id="R207a026cbec141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agents/agent-registry.md; contracts/universal-agent-contract.md; governance/human-review-and-maturity.md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performance statements, not topics. Tell learners what evidence they will create for each outcome. Preview the rhythm: a small amount of instruction followed by a worked example, a team lab, a prompt-writing task, and a short exit ticket. Ask each learner to choose the outcome that feels least familiar and write it at the top of their notes. Revisit that choice at the end. Keep this slide under five minutes; its purpose is to make success inspectable.</a:t>
            </a:r>
          </a:p>
          <a:p xmlns:a="http://schemas.openxmlformats.org/drawingml/2006/main">
            <a:r>
              <a:t/>
            </a:r>
          </a:p>
          <a:p xmlns:a="http://schemas.openxmlformats.org/drawingml/2006/main">
            <a:r>
              <a:t>[Sources]</a:t>
            </a:r>
          </a:p>
          <a:p xmlns:a="http://schemas.openxmlformats.org/drawingml/2006/main">
            <a:r>
              <a:t>- Code Review Harness repository: agents/agent-registry.md; contracts/universal-agent-contract.md; governance/human-review-and-maturity.md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agents/agent-registry.md; contracts/universal-agent-contract.md; governance/human-review-and-maturity.md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agents/agent-registry.md; contracts/universal-agent-contract.md; governance/human-review-and-maturity.md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teams of three or four and assign one recorder. Read the task exactly once, then ask teams to restate the acceptance condition in their own words. During work time, circulate and ask evidence questions rather than supplying answers. At the critique, require another team to identify one strength, one contract gap, and one unsafe assumption. Give teams five minutes to repair the artifact before debrief. Collect the final artifact as course evidence; it will become input to the capstone. If time compresses, protect the critique and repair steps—the learning comes from validation, not only drafting.</a:t>
            </a:r>
          </a:p>
          <a:p xmlns:a="http://schemas.openxmlformats.org/drawingml/2006/main">
            <a:r>
              <a:t/>
            </a:r>
          </a:p>
          <a:p xmlns:a="http://schemas.openxmlformats.org/drawingml/2006/main">
            <a:r>
              <a:t>[Sources]</a:t>
            </a:r>
          </a:p>
          <a:p xmlns:a="http://schemas.openxmlformats.org/drawingml/2006/main">
            <a:r>
              <a:t>- Code Review Harness repository: agents/agent-registry.md; contracts/universal-agent-contract.md; governance/human-review-and-maturity.md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learners to draft in the six visible blocks rather than writing a long narrative prompt. For each block, they must cite the contract or role specification that justifies it. Pair reviewers should look for contradictions across blocks: a scope that exceeds the authoritative question, a method that admits evidence the input rules reject, or an output that implies decision authority. Ask reviewers to propose the smallest repair that restores the invariant. End by selecting one clause and testing it verbally with a hostile input. Remind the class that prompt quality is demonstrated by behavior across cases, not by how polished the wording sounds.</a:t>
            </a:r>
          </a:p>
          <a:p xmlns:a="http://schemas.openxmlformats.org/drawingml/2006/main">
            <a:r>
              <a:t/>
            </a:r>
          </a:p>
          <a:p xmlns:a="http://schemas.openxmlformats.org/drawingml/2006/main">
            <a:r>
              <a:t>[Sources]</a:t>
            </a:r>
          </a:p>
          <a:p xmlns:a="http://schemas.openxmlformats.org/drawingml/2006/main">
            <a:r>
              <a:t>- Code Review Harness repository: agents/agent-registry.md; contracts/universal-agent-contract.md; governance/human-review-and-maturity.md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two quiet minutes to answer the exit ticket individually. Require an evidence-backed response, not a slogan. Invite two contrasting answers and ask the group which is more reproducible and why. Collect responses or have learners commit them to the course workspace. Close by connecting today’s artifact to the next session and by restating the invariant: evidence is observable, assessment is bounded, recommendations inform, and humans decide. If misconceptions remain, record them as input to the next session rather than extending the lecture.</a:t>
            </a:r>
          </a:p>
          <a:p xmlns:a="http://schemas.openxmlformats.org/drawingml/2006/main">
            <a:r>
              <a:t/>
            </a:r>
          </a:p>
          <a:p xmlns:a="http://schemas.openxmlformats.org/drawingml/2006/main">
            <a:r>
              <a:t>[Sources]</a:t>
            </a:r>
          </a:p>
          <a:p xmlns:a="http://schemas.openxmlformats.org/drawingml/2006/main">
            <a:r>
              <a:t>- Code Review Harness repository: agents/agent-registry.md; contracts/universal-agent-contract.md; governance/human-review-and-maturity.md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fdeb84077d4a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31b139bedc47ac" /><Relationship Type="http://schemas.openxmlformats.org/officeDocument/2006/relationships/slideLayout" Target="/ppt/slideLayouts/slideLayout1.xml" Id="R6dc35105204a4f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c35105204a4f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4941b3efe124d08" /><Relationship Type="http://schemas.openxmlformats.org/officeDocument/2006/relationships/notesSlide" Target="/ppt/notesSlides/notesSlide1.xml" Id="R809155f4f19042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dc7964b20674b23" /><Relationship Type="http://schemas.openxmlformats.org/officeDocument/2006/relationships/notesSlide" Target="/ppt/notesSlides/notesSlide2.xml" Id="Rd7e144193f8242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c5a1219a0aa432b" /><Relationship Type="http://schemas.openxmlformats.org/officeDocument/2006/relationships/notesSlide" Target="/ppt/notesSlides/notesSlide3.xml" Id="R1ae1543d265b45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eef484e8f6543de" /><Relationship Type="http://schemas.openxmlformats.org/officeDocument/2006/relationships/notesSlide" Target="/ppt/notesSlides/notesSlide4.xml" Id="Rf0e2f30f55204b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6379eb38ee641c2" /><Relationship Type="http://schemas.openxmlformats.org/officeDocument/2006/relationships/notesSlide" Target="/ppt/notesSlides/notesSlide5.xml" Id="R05391e92f3f7439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315c72bd058455b" /><Relationship Type="http://schemas.openxmlformats.org/officeDocument/2006/relationships/notesSlide" Target="/ppt/notesSlides/notesSlide6.xml" Id="Ra0770e6561634be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1013d0c2c754535" /><Relationship Type="http://schemas.openxmlformats.org/officeDocument/2006/relationships/notesSlide" Target="/ppt/notesSlides/notesSlide7.xml" Id="Rd20d8f2bef864b8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77F1AE3-A8C4-4DE9-977D-C39C90A6FCDE}"/>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87B3F6ED-5D55-4CC2-B1FE-5DBE3306B459}"/>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2CC66684-2A13-492F-95D8-990924ACDFB2}"/>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12</a:t>
            </a:r>
          </a:p>
        </p:txBody>
      </p:sp>
      <p:sp>
        <p:nvSpPr>
          <p:cNvPr id="4" name="">
            <a:extLst xmlns:a="http://schemas.openxmlformats.org/drawingml/2006/main">
              <a:ext uri="{FF2B5EF4-FFF2-40B4-BE49-F238E27FC236}">
                <a16:creationId xmlns:a16="http://schemas.microsoft.com/office/drawing/2014/main" id="{2EFA053F-13B0-424C-ABD8-2014ADC56845}"/>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Prompt Factory Capstone</a:t>
            </a:r>
          </a:p>
        </p:txBody>
      </p:sp>
      <p:sp>
        <p:nvSpPr>
          <p:cNvPr id="5" name="">
            <a:extLst xmlns:a="http://schemas.openxmlformats.org/drawingml/2006/main">
              <a:ext uri="{FF2B5EF4-FFF2-40B4-BE49-F238E27FC236}">
                <a16:creationId xmlns:a16="http://schemas.microsoft.com/office/drawing/2014/main" id="{75841735-2637-42A9-9319-999CBBDE948C}"/>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Can another team operate and audit your agent?</a:t>
            </a:r>
          </a:p>
        </p:txBody>
      </p:sp>
      <p:sp>
        <p:nvSpPr>
          <p:cNvPr id="6" name="">
            <a:extLst xmlns:a="http://schemas.openxmlformats.org/drawingml/2006/main">
              <a:ext uri="{FF2B5EF4-FFF2-40B4-BE49-F238E27FC236}">
                <a16:creationId xmlns:a16="http://schemas.microsoft.com/office/drawing/2014/main" id="{1832803F-05CE-4F3C-B52D-D81B45486680}"/>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CAFC7015-E50A-4397-81AB-65CACCF657C6}"/>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12</a:t>
            </a:r>
          </a:p>
        </p:txBody>
      </p:sp>
      <p:sp>
        <p:nvSpPr>
          <p:cNvPr id="8" name="">
            <a:extLst xmlns:a="http://schemas.openxmlformats.org/drawingml/2006/main">
              <a:ext uri="{FF2B5EF4-FFF2-40B4-BE49-F238E27FC236}">
                <a16:creationId xmlns:a16="http://schemas.microsoft.com/office/drawing/2014/main" id="{699281AB-AD6E-4A5C-975F-0751DAD3D9EF}"/>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ABB82BEA-1EF3-4039-92A5-084395535C2B}"/>
              </a:ext>
            </a:extLst>
          </p:cNvPr>
          <p:cNvSpPr>
            <a:spLocks xmlns:a="http://schemas.openxmlformats.org/drawingml/2006/main" noGrp="1"/>
          </p:cNvSpPr>
          <p:nvPr/>
        </p:nvSpPr>
        <p:spPr>
          <a:xfrm xmlns:a="http://schemas.openxmlformats.org/drawingml/2006/main">
            <a:off x="495300" y="6096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Young Engineer Training Series</a:t>
            </a:r>
          </a:p>
        </p:txBody>
      </p:sp>
    </p:spTree>
    <p:extLst>
      <p:ext uri="{BB962C8B-B14F-4D97-AF65-F5344CB8AC3E}">
        <p14:creationId xmlns:p14="http://schemas.microsoft.com/office/powerpoint/2010/main" val="831015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817FAD3A-12EE-4643-942D-15ED370574FF}"/>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12 OUTCOMES</a:t>
            </a:r>
          </a:p>
        </p:txBody>
      </p:sp>
      <p:sp>
        <p:nvSpPr>
          <p:cNvPr id="2" name="">
            <a:extLst xmlns:a="http://schemas.openxmlformats.org/drawingml/2006/main">
              <a:ext uri="{FF2B5EF4-FFF2-40B4-BE49-F238E27FC236}">
                <a16:creationId xmlns:a16="http://schemas.microsoft.com/office/drawing/2014/main" id="{22F58795-8537-46D9-B187-FFBAD18F2BE9}"/>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C8DC7E8C-F46C-4BFE-BFA3-8FF2EAE0F8BA}"/>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68B85B3C-3C1C-4FC3-BCE8-53F536900A30}"/>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F8A36ECD-9BF2-4E0B-B7DE-594F61539A4F}"/>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Ship a complete prompt package</a:t>
            </a:r>
          </a:p>
        </p:txBody>
      </p:sp>
      <p:sp>
        <p:nvSpPr>
          <p:cNvPr id="6" name="">
            <a:extLst xmlns:a="http://schemas.openxmlformats.org/drawingml/2006/main">
              <a:ext uri="{FF2B5EF4-FFF2-40B4-BE49-F238E27FC236}">
                <a16:creationId xmlns:a16="http://schemas.microsoft.com/office/drawing/2014/main" id="{54BA4CF5-3939-43B4-BC5B-9F2368E31F9D}"/>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545E3B7A-7383-4D5E-AAF5-8A9B1C05DA33}"/>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3FF5607C-786E-442E-9420-4B0E5CD5FD5D}"/>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Demonstrate contract compliance</a:t>
            </a:r>
          </a:p>
        </p:txBody>
      </p:sp>
      <p:sp>
        <p:nvSpPr>
          <p:cNvPr id="9" name="">
            <a:extLst xmlns:a="http://schemas.openxmlformats.org/drawingml/2006/main">
              <a:ext uri="{FF2B5EF4-FFF2-40B4-BE49-F238E27FC236}">
                <a16:creationId xmlns:a16="http://schemas.microsoft.com/office/drawing/2014/main" id="{26290871-6AE8-4932-B309-EC9B4AE80B8F}"/>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11DB46DF-4BB1-4CF5-B436-B8033FF5DD23}"/>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B36C30CD-07E0-4622-B0F2-DC568B774629}"/>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Conduct an evidence-based human review</a:t>
            </a:r>
          </a:p>
        </p:txBody>
      </p:sp>
      <p:sp>
        <p:nvSpPr>
          <p:cNvPr id="12" name="">
            <a:extLst xmlns:a="http://schemas.openxmlformats.org/drawingml/2006/main">
              <a:ext uri="{FF2B5EF4-FFF2-40B4-BE49-F238E27FC236}">
                <a16:creationId xmlns:a16="http://schemas.microsoft.com/office/drawing/2014/main" id="{162951F5-EF2B-457E-933F-7DF51CF7CE15}"/>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665A318B-1D84-41F7-A247-3EB92B483151}"/>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7EF7E792-6056-4649-8785-D614D3968EB0}"/>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7E75ECDB-EA70-48E3-8F17-1BDDE883F60C}"/>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84B30DD7-2317-4ECA-BB08-80FBCB129570}"/>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E09F9CC1-13B5-482B-B6D8-CA8B0CF24300}"/>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8D2B4181-024D-49F3-B4C4-878A7096E5F0}"/>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3856ACB3-20C8-4E86-8551-1E22C56061F2}"/>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7E61C59D-EA91-4DF2-B990-829FEB4EAD7C}"/>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638CE595-3F5A-4506-BE50-251D957C7622}"/>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Guided lab</a:t>
            </a:r>
          </a:p>
        </p:txBody>
      </p:sp>
      <p:sp>
        <p:nvSpPr>
          <p:cNvPr id="22" name="">
            <a:extLst xmlns:a="http://schemas.openxmlformats.org/drawingml/2006/main">
              <a:ext uri="{FF2B5EF4-FFF2-40B4-BE49-F238E27FC236}">
                <a16:creationId xmlns:a16="http://schemas.microsoft.com/office/drawing/2014/main" id="{CDF5439F-E525-432B-BF39-24F967AA0B79}"/>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DA234784-4342-494F-8FAC-A279F256D039}"/>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6B1888EE-AC3E-4A5E-B548-7DCE2AA30E18}"/>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lab</a:t>
            </a:r>
          </a:p>
        </p:txBody>
      </p:sp>
      <p:sp>
        <p:nvSpPr>
          <p:cNvPr id="25" name="">
            <a:extLst xmlns:a="http://schemas.openxmlformats.org/drawingml/2006/main">
              <a:ext uri="{FF2B5EF4-FFF2-40B4-BE49-F238E27FC236}">
                <a16:creationId xmlns:a16="http://schemas.microsoft.com/office/drawing/2014/main" id="{B64A8631-2750-4D66-A474-F5508B1EF91C}"/>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2A866116-BAA6-442F-A359-4C55A7F70E9D}"/>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51EB3702-7B1C-4FBC-B69A-CA0C6D2871AA}"/>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Exit ticket</a:t>
            </a:r>
          </a:p>
        </p:txBody>
      </p:sp>
      <p:sp>
        <p:nvSpPr>
          <p:cNvPr id="28" name="">
            <a:extLst xmlns:a="http://schemas.openxmlformats.org/drawingml/2006/main">
              <a:ext uri="{FF2B5EF4-FFF2-40B4-BE49-F238E27FC236}">
                <a16:creationId xmlns:a16="http://schemas.microsoft.com/office/drawing/2014/main" id="{C571B4B9-3EDB-49C4-898B-83A4AE350654}"/>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F8C5C1BD-3A57-4EF8-8693-436BDC215A4F}"/>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12  •  CODE REVIEW HARNESS</a:t>
            </a:r>
          </a:p>
        </p:txBody>
      </p:sp>
      <p:sp>
        <p:nvSpPr>
          <p:cNvPr id="30" name="">
            <a:extLst xmlns:a="http://schemas.openxmlformats.org/drawingml/2006/main">
              <a:ext uri="{FF2B5EF4-FFF2-40B4-BE49-F238E27FC236}">
                <a16:creationId xmlns:a16="http://schemas.microsoft.com/office/drawing/2014/main" id="{0D08349C-E5B8-4633-AF2B-4862D076E45A}"/>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155108307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209878E-3E8C-47DA-968D-EAD2AA69A025}"/>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B4A16EF0-9D7A-4EFB-B810-3341BF37C6E4}"/>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1D6EF80E-537D-4A12-A250-A2122423F22A}"/>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1CA9DFB8-3E93-4B42-9147-05E019FE5AC3}"/>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PROMPT</a:t>
            </a:r>
          </a:p>
        </p:txBody>
      </p:sp>
      <p:sp>
        <p:nvSpPr>
          <p:cNvPr id="5" name="">
            <a:extLst xmlns:a="http://schemas.openxmlformats.org/drawingml/2006/main">
              <a:ext uri="{FF2B5EF4-FFF2-40B4-BE49-F238E27FC236}">
                <a16:creationId xmlns:a16="http://schemas.microsoft.com/office/drawing/2014/main" id="{7CA9B1C4-34FD-46F3-9BA1-399F85E12215}"/>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Production candidate</a:t>
            </a:r>
          </a:p>
        </p:txBody>
      </p:sp>
      <p:sp>
        <p:nvSpPr>
          <p:cNvPr id="6" name="">
            <a:extLst xmlns:a="http://schemas.openxmlformats.org/drawingml/2006/main">
              <a:ext uri="{FF2B5EF4-FFF2-40B4-BE49-F238E27FC236}">
                <a16:creationId xmlns:a16="http://schemas.microsoft.com/office/drawing/2014/main" id="{78C18D2F-F394-4B28-A665-04100FC074A6}"/>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C77D19A9-1DFB-432A-931C-232751543BBA}"/>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TRACE MATRIX</a:t>
            </a:r>
          </a:p>
        </p:txBody>
      </p:sp>
      <p:sp>
        <p:nvSpPr>
          <p:cNvPr id="8" name="">
            <a:extLst xmlns:a="http://schemas.openxmlformats.org/drawingml/2006/main">
              <a:ext uri="{FF2B5EF4-FFF2-40B4-BE49-F238E27FC236}">
                <a16:creationId xmlns:a16="http://schemas.microsoft.com/office/drawing/2014/main" id="{C6BE0E89-B2ED-4C01-B0B6-295EC34E3B13}"/>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Requirements coverage</a:t>
            </a:r>
          </a:p>
        </p:txBody>
      </p:sp>
      <p:sp>
        <p:nvSpPr>
          <p:cNvPr id="9" name="">
            <a:extLst xmlns:a="http://schemas.openxmlformats.org/drawingml/2006/main">
              <a:ext uri="{FF2B5EF4-FFF2-40B4-BE49-F238E27FC236}">
                <a16:creationId xmlns:a16="http://schemas.microsoft.com/office/drawing/2014/main" id="{101AE1E0-CDCF-4CD1-964C-E4573B018B2F}"/>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BC2C4EB7-145A-42CB-BE38-BCBD45CA8AD2}"/>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EVAL SUITE</a:t>
            </a:r>
          </a:p>
        </p:txBody>
      </p:sp>
      <p:sp>
        <p:nvSpPr>
          <p:cNvPr id="11" name="">
            <a:extLst xmlns:a="http://schemas.openxmlformats.org/drawingml/2006/main">
              <a:ext uri="{FF2B5EF4-FFF2-40B4-BE49-F238E27FC236}">
                <a16:creationId xmlns:a16="http://schemas.microsoft.com/office/drawing/2014/main" id="{5C8496DC-3F28-4A98-9F59-3B4BE62AB1A7}"/>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Repeatable invariants</a:t>
            </a:r>
          </a:p>
        </p:txBody>
      </p:sp>
      <p:sp>
        <p:nvSpPr>
          <p:cNvPr id="12" name="">
            <a:extLst xmlns:a="http://schemas.openxmlformats.org/drawingml/2006/main">
              <a:ext uri="{FF2B5EF4-FFF2-40B4-BE49-F238E27FC236}">
                <a16:creationId xmlns:a16="http://schemas.microsoft.com/office/drawing/2014/main" id="{D788FA0E-12A6-4BC7-87C6-F8C5622076C3}"/>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C1E259D6-2460-4ADC-AE33-59BE610F0C5C}"/>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VERSION RECORD</a:t>
            </a:r>
          </a:p>
        </p:txBody>
      </p:sp>
      <p:sp>
        <p:nvSpPr>
          <p:cNvPr id="14" name="">
            <a:extLst xmlns:a="http://schemas.openxmlformats.org/drawingml/2006/main">
              <a:ext uri="{FF2B5EF4-FFF2-40B4-BE49-F238E27FC236}">
                <a16:creationId xmlns:a16="http://schemas.microsoft.com/office/drawing/2014/main" id="{CD3C745C-9CED-44CD-ABC9-5BC3DB87B1CC}"/>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Review + disposition</a:t>
            </a:r>
          </a:p>
        </p:txBody>
      </p:sp>
      <p:sp>
        <p:nvSpPr>
          <p:cNvPr id="15" name="">
            <a:extLst xmlns:a="http://schemas.openxmlformats.org/drawingml/2006/main">
              <a:ext uri="{FF2B5EF4-FFF2-40B4-BE49-F238E27FC236}">
                <a16:creationId xmlns:a16="http://schemas.microsoft.com/office/drawing/2014/main" id="{C6213A25-E8ED-46B9-9DA1-DBB9A6B66D2C}"/>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EC086BE7-0D64-4B29-8BEE-613011BDE4D0}"/>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246B29B8-62AB-452C-AD69-6C64E75A7011}"/>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8F8D4B71-DB39-4FB1-8E44-76316546BFC3}"/>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A3C4A369-65F6-4255-AC6A-CAD0B4BD2770}"/>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216A8E58-C399-4501-8D0D-70CA25F8C85C}"/>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12  •  CODE REVIEW HARNESS</a:t>
            </a:r>
          </a:p>
        </p:txBody>
      </p:sp>
      <p:sp>
        <p:nvSpPr>
          <p:cNvPr id="21" name="">
            <a:extLst xmlns:a="http://schemas.openxmlformats.org/drawingml/2006/main">
              <a:ext uri="{FF2B5EF4-FFF2-40B4-BE49-F238E27FC236}">
                <a16:creationId xmlns:a16="http://schemas.microsoft.com/office/drawing/2014/main" id="{BC9E25BC-C18D-4E81-9397-A4A60A5FB8D5}"/>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3407548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752C0B6-FD5D-4995-95C3-99FEDA6C4BE3}"/>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6DB6909E-87E8-4A40-AC9A-F99D1653074D}"/>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2489C301-8778-4E5B-B9CD-B673D11F6D10}"/>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5D652C0B-AEE0-4BC5-8171-580414002374}"/>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304B22C2-E60A-4A4C-A2A4-4A1362ED4A20}"/>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Assign agents</a:t>
            </a:r>
          </a:p>
        </p:txBody>
      </p:sp>
      <p:sp>
        <p:nvSpPr>
          <p:cNvPr id="6" name="">
            <a:extLst xmlns:a="http://schemas.openxmlformats.org/drawingml/2006/main">
              <a:ext uri="{FF2B5EF4-FFF2-40B4-BE49-F238E27FC236}">
                <a16:creationId xmlns:a16="http://schemas.microsoft.com/office/drawing/2014/main" id="{0E8D3762-FE3F-4C4A-B1E6-5F2C027382F7}"/>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D323F9B3-7770-41F9-A865-2627F5FC282A}"/>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C94D2241-8F58-4142-8118-0995440AFA18}"/>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0D958F1E-CDFA-47CD-81A6-794BC0B2C72B}"/>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EBEB2581-897B-4A26-B7CF-626C807C6462}"/>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Draft packages</a:t>
            </a:r>
          </a:p>
        </p:txBody>
      </p:sp>
      <p:sp>
        <p:nvSpPr>
          <p:cNvPr id="11" name="">
            <a:extLst xmlns:a="http://schemas.openxmlformats.org/drawingml/2006/main">
              <a:ext uri="{FF2B5EF4-FFF2-40B4-BE49-F238E27FC236}">
                <a16:creationId xmlns:a16="http://schemas.microsoft.com/office/drawing/2014/main" id="{C9631C2D-80F3-4B59-9BC4-61DF065A24CD}"/>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69D01CFB-5034-4F12-B62D-6C2E063FE0AB}"/>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87F43344-74BF-4B56-96FA-4C9C3FA852CA}"/>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0E26D263-0EC3-43D4-A48E-1891C375361E}"/>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AEBFB7A9-00EB-4205-83A2-F27AC3E273B4}"/>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Adversarial test</a:t>
            </a:r>
          </a:p>
        </p:txBody>
      </p:sp>
      <p:sp>
        <p:nvSpPr>
          <p:cNvPr id="16" name="">
            <a:extLst xmlns:a="http://schemas.openxmlformats.org/drawingml/2006/main">
              <a:ext uri="{FF2B5EF4-FFF2-40B4-BE49-F238E27FC236}">
                <a16:creationId xmlns:a16="http://schemas.microsoft.com/office/drawing/2014/main" id="{B6D5F4A2-8749-4F7A-9E5C-D936CB2FD4BF}"/>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2E43B0B5-0657-4773-B635-93CC45134450}"/>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14C38753-C29E-4423-8F82-BCF9AE8F39E7}"/>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AD5FD12F-25D2-4B54-8431-0B11019760D4}"/>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AF5D74DB-F2D8-4DD7-A499-A33612C35235}"/>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Peer gate</a:t>
            </a:r>
          </a:p>
        </p:txBody>
      </p:sp>
      <p:sp>
        <p:nvSpPr>
          <p:cNvPr id="21" name="">
            <a:extLst xmlns:a="http://schemas.openxmlformats.org/drawingml/2006/main">
              <a:ext uri="{FF2B5EF4-FFF2-40B4-BE49-F238E27FC236}">
                <a16:creationId xmlns:a16="http://schemas.microsoft.com/office/drawing/2014/main" id="{70F024C2-C4F4-4F77-B686-2AA337E83CE8}"/>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014BDC1F-C026-48D9-8470-FDEC553CFAEC}"/>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481CBAF5-0ECE-488C-AA3A-BF874F0A8B1C}"/>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8619A964-8CB0-400F-93B3-E5FF75871BB1}"/>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7913C52E-AED9-487F-9DA3-305CFF99A73B}"/>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Human disposition</a:t>
            </a:r>
          </a:p>
        </p:txBody>
      </p:sp>
      <p:sp>
        <p:nvSpPr>
          <p:cNvPr id="26" name="">
            <a:extLst xmlns:a="http://schemas.openxmlformats.org/drawingml/2006/main">
              <a:ext uri="{FF2B5EF4-FFF2-40B4-BE49-F238E27FC236}">
                <a16:creationId xmlns:a16="http://schemas.microsoft.com/office/drawing/2014/main" id="{E3E09174-D198-42DC-9647-3D8F5443CD38}"/>
              </a:ext>
            </a:extLst>
          </p:cNvPr>
          <p:cNvSpPr>
            <a:spLocks xmlns:a="http://schemas.openxmlformats.org/drawingml/2006/main" noGrp="1"/>
          </p:cNvSpPr>
          <p:nvPr/>
        </p:nvSpPr>
        <p:spPr>
          <a:xfrm xmlns:a="http://schemas.openxmlformats.org/drawingml/2006/main">
            <a:off x="952500" y="46291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F4D78"/>
                </a:solidFill>
                <a:latin typeface="Aptos"/>
                <a:ea typeface="Aptos"/>
                <a:cs typeface="Aptos"/>
              </a:defRPr>
            </a:pPr>
            <a:r>
              <a:rPr sz="1575" b="1">
                <a:solidFill>
                  <a:srgbClr val="1F4D78"/>
                </a:solidFill>
                <a:latin typeface="Aptos"/>
                <a:ea typeface="Aptos"/>
                <a:cs typeface="Aptos"/>
              </a:rPr>
              <a:t>At every handoff: preserve identity, provenance, coverage, confidence, and consumer intent.</a:t>
            </a:r>
          </a:p>
        </p:txBody>
      </p:sp>
      <p:sp>
        <p:nvSpPr>
          <p:cNvPr id="27" name="">
            <a:extLst xmlns:a="http://schemas.openxmlformats.org/drawingml/2006/main">
              <a:ext uri="{FF2B5EF4-FFF2-40B4-BE49-F238E27FC236}">
                <a16:creationId xmlns:a16="http://schemas.microsoft.com/office/drawing/2014/main" id="{2CC9C24D-77A3-445D-B1B7-D60EE063C730}"/>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E821BFE1-2A94-4607-99A4-551AB2828C05}"/>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12  •  CODE REVIEW HARNESS</a:t>
            </a:r>
          </a:p>
        </p:txBody>
      </p:sp>
      <p:sp>
        <p:nvSpPr>
          <p:cNvPr id="29" name="">
            <a:extLst xmlns:a="http://schemas.openxmlformats.org/drawingml/2006/main">
              <a:ext uri="{FF2B5EF4-FFF2-40B4-BE49-F238E27FC236}">
                <a16:creationId xmlns:a16="http://schemas.microsoft.com/office/drawing/2014/main" id="{0E7F38F6-8075-4D0D-A394-632A93374750}"/>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17811750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BB20130-C0B5-42DA-B3A9-EF43C8D58F47}"/>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GUIDED TEAM LAB</a:t>
            </a:r>
          </a:p>
        </p:txBody>
      </p:sp>
      <p:sp>
        <p:nvSpPr>
          <p:cNvPr id="2" name="">
            <a:extLst xmlns:a="http://schemas.openxmlformats.org/drawingml/2006/main">
              <a:ext uri="{FF2B5EF4-FFF2-40B4-BE49-F238E27FC236}">
                <a16:creationId xmlns:a16="http://schemas.microsoft.com/office/drawing/2014/main" id="{7531C66B-402B-4C4C-95BC-E82860EE0EC3}"/>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Build an artifact the room can inspect</a:t>
            </a:r>
          </a:p>
        </p:txBody>
      </p:sp>
      <p:sp>
        <p:nvSpPr>
          <p:cNvPr id="3" name="">
            <a:extLst xmlns:a="http://schemas.openxmlformats.org/drawingml/2006/main">
              <a:ext uri="{FF2B5EF4-FFF2-40B4-BE49-F238E27FC236}">
                <a16:creationId xmlns:a16="http://schemas.microsoft.com/office/drawing/2014/main" id="{5B113FF4-ED05-4ED4-B0F9-F39236E57665}"/>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5D985FF3-6C1F-454E-82E4-27C819CCC5BD}"/>
              </a:ext>
            </a:extLst>
          </p:cNvPr>
          <p:cNvSpPr>
            <a:spLocks xmlns:a="http://schemas.openxmlformats.org/drawingml/2006/main" noGrp="1"/>
          </p:cNvSpPr>
          <p:nvPr/>
        </p:nvSpPr>
        <p:spPr>
          <a:xfrm xmlns:a="http://schemas.openxmlformats.org/drawingml/2006/main">
            <a:off x="723900" y="2095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TEAM TASK</a:t>
            </a:r>
          </a:p>
        </p:txBody>
      </p:sp>
      <p:sp>
        <p:nvSpPr>
          <p:cNvPr id="5" name="">
            <a:extLst xmlns:a="http://schemas.openxmlformats.org/drawingml/2006/main">
              <a:ext uri="{FF2B5EF4-FFF2-40B4-BE49-F238E27FC236}">
                <a16:creationId xmlns:a16="http://schemas.microsoft.com/office/drawing/2014/main" id="{9DC2D21E-6DDE-4C76-96CB-AEFCDF70B0C0}"/>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Complete the assigned agent bundle and demonstrate success, conflict, incomplete-input, and authority paths.</a:t>
            </a:r>
          </a:p>
        </p:txBody>
      </p:sp>
      <p:sp>
        <p:nvSpPr>
          <p:cNvPr id="6" name="">
            <a:extLst xmlns:a="http://schemas.openxmlformats.org/drawingml/2006/main">
              <a:ext uri="{FF2B5EF4-FFF2-40B4-BE49-F238E27FC236}">
                <a16:creationId xmlns:a16="http://schemas.microsoft.com/office/drawing/2014/main" id="{D52B1F0E-D970-4675-8D26-D210B080AF7D}"/>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67093561-FB3E-48E2-BE40-4CD9B202BE34}"/>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97D77FDD-4B81-4272-8581-7FD69DA623CC}"/>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Build package</a:t>
            </a:r>
          </a:p>
        </p:txBody>
      </p:sp>
      <p:sp>
        <p:nvSpPr>
          <p:cNvPr id="9" name="">
            <a:extLst xmlns:a="http://schemas.openxmlformats.org/drawingml/2006/main">
              <a:ext uri="{FF2B5EF4-FFF2-40B4-BE49-F238E27FC236}">
                <a16:creationId xmlns:a16="http://schemas.microsoft.com/office/drawing/2014/main" id="{163B100A-1071-434F-973B-F8C8BD3B1257}"/>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D160466A-C89B-4B7F-A332-9C8F5F9A815B}"/>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B1D7A5E3-CBBD-40DE-9D23-E181BE9A92D6}"/>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Pass peer gate</a:t>
            </a:r>
          </a:p>
        </p:txBody>
      </p:sp>
      <p:sp>
        <p:nvSpPr>
          <p:cNvPr id="12" name="">
            <a:extLst xmlns:a="http://schemas.openxmlformats.org/drawingml/2006/main">
              <a:ext uri="{FF2B5EF4-FFF2-40B4-BE49-F238E27FC236}">
                <a16:creationId xmlns:a16="http://schemas.microsoft.com/office/drawing/2014/main" id="{19B3525A-169B-4A43-8227-F2525CCAF79F}"/>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1B823E2C-9AB2-43B7-9D78-FC39FCAF8460}"/>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CC92A9AB-8D66-48A2-A512-494EB75EA8D5}"/>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Demo evidence</a:t>
            </a:r>
          </a:p>
        </p:txBody>
      </p:sp>
      <p:sp>
        <p:nvSpPr>
          <p:cNvPr id="15" name="">
            <a:extLst xmlns:a="http://schemas.openxmlformats.org/drawingml/2006/main">
              <a:ext uri="{FF2B5EF4-FFF2-40B4-BE49-F238E27FC236}">
                <a16:creationId xmlns:a16="http://schemas.microsoft.com/office/drawing/2014/main" id="{3CC2E6C0-E533-486B-9760-60ACF0A91CFA}"/>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5 min brief • 20 min work • 10 min critique • 5 min repair</a:t>
            </a:r>
          </a:p>
        </p:txBody>
      </p:sp>
      <p:sp>
        <p:nvSpPr>
          <p:cNvPr id="16" name="">
            <a:extLst xmlns:a="http://schemas.openxmlformats.org/drawingml/2006/main">
              <a:ext uri="{FF2B5EF4-FFF2-40B4-BE49-F238E27FC236}">
                <a16:creationId xmlns:a16="http://schemas.microsoft.com/office/drawing/2014/main" id="{1B578D88-37EE-4F83-A12B-5EAAC0B21400}"/>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9EB31C01-29ED-46BA-BAE0-F673107E050B}"/>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12  •  CODE REVIEW HARNESS</a:t>
            </a:r>
          </a:p>
        </p:txBody>
      </p:sp>
      <p:sp>
        <p:nvSpPr>
          <p:cNvPr id="18" name="">
            <a:extLst xmlns:a="http://schemas.openxmlformats.org/drawingml/2006/main">
              <a:ext uri="{FF2B5EF4-FFF2-40B4-BE49-F238E27FC236}">
                <a16:creationId xmlns:a16="http://schemas.microsoft.com/office/drawing/2014/main" id="{C0FED9EA-73EA-485E-9BDA-3CFF471459AA}"/>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5652908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073145C-6954-4D2F-9129-F6AFAA8A8E49}"/>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ENGINEERING LAB</a:t>
            </a:r>
          </a:p>
        </p:txBody>
      </p:sp>
      <p:sp>
        <p:nvSpPr>
          <p:cNvPr id="2" name="">
            <a:extLst xmlns:a="http://schemas.openxmlformats.org/drawingml/2006/main">
              <a:ext uri="{FF2B5EF4-FFF2-40B4-BE49-F238E27FC236}">
                <a16:creationId xmlns:a16="http://schemas.microsoft.com/office/drawing/2014/main" id="{A959DD36-FDD0-418D-97B3-C10BE1A54081}"/>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1B919C5C-661B-48EC-A6F0-A7056055589E}"/>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Finalize the candidate and document every intentional deviation.</a:t>
            </a:r>
          </a:p>
        </p:txBody>
      </p:sp>
      <p:sp>
        <p:nvSpPr>
          <p:cNvPr id="4" name="">
            <a:extLst xmlns:a="http://schemas.openxmlformats.org/drawingml/2006/main">
              <a:ext uri="{FF2B5EF4-FFF2-40B4-BE49-F238E27FC236}">
                <a16:creationId xmlns:a16="http://schemas.microsoft.com/office/drawing/2014/main" id="{E56674AE-BB24-47EB-90AA-AE3AEFC47B65}"/>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B29B6910-2055-4579-9768-6E6AD29CBB26}"/>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AE90FE3B-7B52-48F2-8133-48CB99724856}"/>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Prompt</a:t>
            </a:r>
          </a:p>
        </p:txBody>
      </p:sp>
      <p:sp>
        <p:nvSpPr>
          <p:cNvPr id="7" name="">
            <a:extLst xmlns:a="http://schemas.openxmlformats.org/drawingml/2006/main">
              <a:ext uri="{FF2B5EF4-FFF2-40B4-BE49-F238E27FC236}">
                <a16:creationId xmlns:a16="http://schemas.microsoft.com/office/drawing/2014/main" id="{04FE8B23-A0A2-4880-A187-FBBE5FA39273}"/>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6BFA198C-A035-4FF3-8890-0E4B6AEB91F7}"/>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F9454DDB-2A98-48ED-B73B-44125EC71032}"/>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Trace</a:t>
            </a:r>
          </a:p>
        </p:txBody>
      </p:sp>
      <p:sp>
        <p:nvSpPr>
          <p:cNvPr id="10" name="">
            <a:extLst xmlns:a="http://schemas.openxmlformats.org/drawingml/2006/main">
              <a:ext uri="{FF2B5EF4-FFF2-40B4-BE49-F238E27FC236}">
                <a16:creationId xmlns:a16="http://schemas.microsoft.com/office/drawing/2014/main" id="{FDD20318-50E2-4E92-B02D-BFE47E4B3E5E}"/>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A6C342C1-E093-48AA-B3F1-2C5A1B3335D3}"/>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5E5404AD-147F-48BC-A116-085698851C2B}"/>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Examples</a:t>
            </a:r>
          </a:p>
        </p:txBody>
      </p:sp>
      <p:sp>
        <p:nvSpPr>
          <p:cNvPr id="13" name="">
            <a:extLst xmlns:a="http://schemas.openxmlformats.org/drawingml/2006/main">
              <a:ext uri="{FF2B5EF4-FFF2-40B4-BE49-F238E27FC236}">
                <a16:creationId xmlns:a16="http://schemas.microsoft.com/office/drawing/2014/main" id="{42EFB84D-A876-48FF-B3CB-AF6431495426}"/>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3FE01A4C-9BB5-47B6-905B-1E91F260ADC4}"/>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4C03D36B-D990-466F-9E8B-3F2B900E88B0}"/>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Tests</a:t>
            </a:r>
          </a:p>
        </p:txBody>
      </p:sp>
      <p:sp>
        <p:nvSpPr>
          <p:cNvPr id="16" name="">
            <a:extLst xmlns:a="http://schemas.openxmlformats.org/drawingml/2006/main">
              <a:ext uri="{FF2B5EF4-FFF2-40B4-BE49-F238E27FC236}">
                <a16:creationId xmlns:a16="http://schemas.microsoft.com/office/drawing/2014/main" id="{033DBB2D-B5E0-4E82-A5CF-4A6068EE75B6}"/>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DE21562B-0D54-4913-A108-B5A1E62EA501}"/>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CD7D02C6-9E4F-4056-96D2-6B91D2638758}"/>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Scorecard</a:t>
            </a:r>
          </a:p>
        </p:txBody>
      </p:sp>
      <p:sp>
        <p:nvSpPr>
          <p:cNvPr id="19" name="">
            <a:extLst xmlns:a="http://schemas.openxmlformats.org/drawingml/2006/main">
              <a:ext uri="{FF2B5EF4-FFF2-40B4-BE49-F238E27FC236}">
                <a16:creationId xmlns:a16="http://schemas.microsoft.com/office/drawing/2014/main" id="{3D54EA8A-E302-439A-8019-7C33BD623834}"/>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FE841E30-5C05-40C4-A829-DEF9B37BDFB1}"/>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7DA85F81-3D88-4E0B-BED1-371B289D62B4}"/>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Version</a:t>
            </a:r>
          </a:p>
        </p:txBody>
      </p:sp>
      <p:sp>
        <p:nvSpPr>
          <p:cNvPr id="22" name="">
            <a:extLst xmlns:a="http://schemas.openxmlformats.org/drawingml/2006/main">
              <a:ext uri="{FF2B5EF4-FFF2-40B4-BE49-F238E27FC236}">
                <a16:creationId xmlns:a16="http://schemas.microsoft.com/office/drawing/2014/main" id="{1D67CA58-4EFC-48AF-B616-A9F47FDF6144}"/>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855C17CE-8D79-465B-B7EB-93FB135539B4}"/>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12  •  CODE REVIEW HARNESS</a:t>
            </a:r>
          </a:p>
        </p:txBody>
      </p:sp>
      <p:sp>
        <p:nvSpPr>
          <p:cNvPr id="24" name="">
            <a:extLst xmlns:a="http://schemas.openxmlformats.org/drawingml/2006/main">
              <a:ext uri="{FF2B5EF4-FFF2-40B4-BE49-F238E27FC236}">
                <a16:creationId xmlns:a16="http://schemas.microsoft.com/office/drawing/2014/main" id="{E3C526CC-E10C-4A85-9237-40DE0C73C1EB}"/>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1921380018"/>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73F1272-BB61-4F18-BEF2-DA5993956B9B}"/>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12  •  EXIT TICKET</a:t>
            </a:r>
          </a:p>
        </p:txBody>
      </p:sp>
      <p:sp>
        <p:nvSpPr>
          <p:cNvPr id="2" name="">
            <a:extLst xmlns:a="http://schemas.openxmlformats.org/drawingml/2006/main">
              <a:ext uri="{FF2B5EF4-FFF2-40B4-BE49-F238E27FC236}">
                <a16:creationId xmlns:a16="http://schemas.microsoft.com/office/drawing/2014/main" id="{C6D663FA-3171-44B5-8617-45C29E44390E}"/>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Request one disposition: baseline, seed, return for change, or reject as duplicate.</a:t>
            </a:r>
          </a:p>
        </p:txBody>
      </p:sp>
      <p:sp>
        <p:nvSpPr>
          <p:cNvPr id="3" name="">
            <a:extLst xmlns:a="http://schemas.openxmlformats.org/drawingml/2006/main">
              <a:ext uri="{FF2B5EF4-FFF2-40B4-BE49-F238E27FC236}">
                <a16:creationId xmlns:a16="http://schemas.microsoft.com/office/drawing/2014/main" id="{4813D298-76A4-49FB-881B-F8212F5821A2}"/>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22051E03-70C8-4AD1-98EE-FEFDA8FE8C8E}"/>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C784482E-0879-4465-A3DE-67FE3DE2245B}"/>
              </a:ext>
            </a:extLst>
          </p:cNvPr>
          <p:cNvSpPr>
            <a:spLocks xmlns:a="http://schemas.openxmlformats.org/drawingml/2006/main" noGrp="1"/>
          </p:cNvSpPr>
          <p:nvPr/>
        </p:nvSpPr>
        <p:spPr>
          <a:xfrm xmlns:a="http://schemas.openxmlformats.org/drawingml/2006/main">
            <a:off x="495300" y="6096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CAPSTONE COMPLETE  •  HUMAN REVIEW REQUIRED</a:t>
            </a:r>
          </a:p>
        </p:txBody>
      </p:sp>
    </p:spTree>
    <p:extLst>
      <p:ext uri="{BB962C8B-B14F-4D97-AF65-F5344CB8AC3E}">
        <p14:creationId xmlns:p14="http://schemas.microsoft.com/office/powerpoint/2010/main" val="3144567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2026-07-30T16:08:19.3210000Z</dcterms:created>
  <dcterms:modified xsi:type="dcterms:W3CDTF">2026-07-30T16:08:19.3210000Z</dcterms:modified>
</coreProperties>
</file>