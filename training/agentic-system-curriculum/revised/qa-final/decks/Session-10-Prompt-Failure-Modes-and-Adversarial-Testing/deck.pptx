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27d94f4bd24e36" /><Relationship Type="http://schemas.openxmlformats.org/officeDocument/2006/relationships/extended-properties" Target="/docProps/app.xml" Id="R39ca47c415f74cf4" /><Relationship Type="http://schemas.openxmlformats.org/officeDocument/2006/relationships/officeDocument" Target="/ppt/presentation.xml" Id="Rb2d0ff48295a481b" /></Relationships>
</file>

<file path=ppt/presentation.xml><?xml version="1.0" encoding="utf-8"?>
<p:presentation xmlns:p="http://schemas.openxmlformats.org/presentationml/2006/main">
  <p:sldMasterIdLst>
    <p:sldMasterId xmlns:r="http://schemas.openxmlformats.org/officeDocument/2006/relationships" id="2147483648" r:id="Rbc5f56bacbef4a9c"/>
  </p:sldMasterIdLst>
  <p:notesMasterIdLst>
    <p:notesMasterId xmlns:r="http://schemas.openxmlformats.org/officeDocument/2006/relationships" r:id="Re7ffb5811c7a48f8"/>
  </p:notesMasterIdLst>
  <p:sldIdLst>
    <p:sldId xmlns:r="http://schemas.openxmlformats.org/officeDocument/2006/relationships" id="256" r:id="R87306a54b219443f"/>
    <p:sldId xmlns:r="http://schemas.openxmlformats.org/officeDocument/2006/relationships" id="257" r:id="Reb97b998fe1c47c1"/>
    <p:sldId xmlns:r="http://schemas.openxmlformats.org/officeDocument/2006/relationships" id="258" r:id="R6e017e424b244e9c"/>
    <p:sldId xmlns:r="http://schemas.openxmlformats.org/officeDocument/2006/relationships" id="259" r:id="R00f1c901849244cb"/>
    <p:sldId xmlns:r="http://schemas.openxmlformats.org/officeDocument/2006/relationships" id="260" r:id="Ra3a490cb290e4a27"/>
    <p:sldId xmlns:r="http://schemas.openxmlformats.org/officeDocument/2006/relationships" id="261" r:id="Rf6fd80c1fe344c82"/>
    <p:sldId xmlns:r="http://schemas.openxmlformats.org/officeDocument/2006/relationships" id="262" r:id="R06674c822d66423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55f0328182f4c4f" /><Relationship Type="http://schemas.openxmlformats.org/officeDocument/2006/relationships/slideMaster" Target="/ppt/slideMasters/slideMaster1.xml" Id="Rbc5f56bacbef4a9c" /><Relationship Type="http://schemas.openxmlformats.org/officeDocument/2006/relationships/notesMaster" Target="/ppt/notesMasters/notesMaster1.xml" Id="Re7ffb5811c7a48f8" /><Relationship Type="http://schemas.openxmlformats.org/officeDocument/2006/relationships/presProps" Target="/ppt/presProps.xml" Id="R142fe6dbe09d462f" /><Relationship Type="http://schemas.openxmlformats.org/officeDocument/2006/relationships/tableStyles" Target="/ppt/tableStyles.xml" Id="R1678006fb3174bbf" /><Relationship Type="http://schemas.openxmlformats.org/officeDocument/2006/relationships/slide" Target="/ppt/slides/slide1.xml" Id="R87306a54b219443f" /><Relationship Type="http://schemas.openxmlformats.org/officeDocument/2006/relationships/slide" Target="/ppt/slides/slide2.xml" Id="Reb97b998fe1c47c1" /><Relationship Type="http://schemas.openxmlformats.org/officeDocument/2006/relationships/slide" Target="/ppt/slides/slide3.xml" Id="R6e017e424b244e9c" /><Relationship Type="http://schemas.openxmlformats.org/officeDocument/2006/relationships/slide" Target="/ppt/slides/slide4.xml" Id="R00f1c901849244cb" /><Relationship Type="http://schemas.openxmlformats.org/officeDocument/2006/relationships/slide" Target="/ppt/slides/slide5.xml" Id="Ra3a490cb290e4a27" /><Relationship Type="http://schemas.openxmlformats.org/officeDocument/2006/relationships/slide" Target="/ppt/slides/slide6.xml" Id="Rf6fd80c1fe344c82" /><Relationship Type="http://schemas.openxmlformats.org/officeDocument/2006/relationships/slide" Target="/ppt/slides/slide7.xml" Id="R06674c822d6642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3e47d3669f4fb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a02853997ba4987" /><Relationship Type="http://schemas.openxmlformats.org/officeDocument/2006/relationships/notesMaster" Target="/ppt/notesMasters/notesMaster1.xml" Id="R4cf3a3ec825c4f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e7509dcae204372" /><Relationship Type="http://schemas.openxmlformats.org/officeDocument/2006/relationships/notesMaster" Target="/ppt/notesMasters/notesMaster1.xml" Id="Rd84578e114dc4ca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4e18ea48c34222" /><Relationship Type="http://schemas.openxmlformats.org/officeDocument/2006/relationships/notesMaster" Target="/ppt/notesMasters/notesMaster1.xml" Id="R8d19bd871a214f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3a46f08addb4ea3" /><Relationship Type="http://schemas.openxmlformats.org/officeDocument/2006/relationships/notesMaster" Target="/ppt/notesMasters/notesMaster1.xml" Id="Ra9dfb403d46b4b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363264b42741f3" /><Relationship Type="http://schemas.openxmlformats.org/officeDocument/2006/relationships/notesMaster" Target="/ppt/notesMasters/notesMaster1.xml" Id="R5fd4048f74de41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811f811f4e4e8a" /><Relationship Type="http://schemas.openxmlformats.org/officeDocument/2006/relationships/notesMaster" Target="/ppt/notesMasters/notesMaster1.xml" Id="R9f2f27c05b2c42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802dfe45614980" /><Relationship Type="http://schemas.openxmlformats.org/officeDocument/2006/relationships/notesMaster" Target="/ppt/notesMasters/notesMaster1.xml" Id="R6c333de38f1c46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contracts/style-and-validation.md; contracts/sandboxed-contract-evolution.md; governance/integration-boundaries.md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6c7fda203d843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4cdfd48ab3446d6" /><Relationship Type="http://schemas.openxmlformats.org/officeDocument/2006/relationships/slideLayout" Target="/ppt/slideLayouts/slideLayout1.xml" Id="R5247fa56691445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47fa56691445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07695cc59d4dde" /><Relationship Type="http://schemas.openxmlformats.org/officeDocument/2006/relationships/notesSlide" Target="/ppt/notesSlides/notesSlide1.xml" Id="Re49a7e4e5b7049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8d04291df5468e" /><Relationship Type="http://schemas.openxmlformats.org/officeDocument/2006/relationships/notesSlide" Target="/ppt/notesSlides/notesSlide2.xml" Id="R891b2831a21f4f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990488447d49f9" /><Relationship Type="http://schemas.openxmlformats.org/officeDocument/2006/relationships/notesSlide" Target="/ppt/notesSlides/notesSlide3.xml" Id="R461d55141e084a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8741547d2ab45b4" /><Relationship Type="http://schemas.openxmlformats.org/officeDocument/2006/relationships/notesSlide" Target="/ppt/notesSlides/notesSlide4.xml" Id="Rae90e0b8cc0b46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b613e11f5b4881" /><Relationship Type="http://schemas.openxmlformats.org/officeDocument/2006/relationships/notesSlide" Target="/ppt/notesSlides/notesSlide5.xml" Id="Rbb5c6b88542341f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ed8c225ca3b4421" /><Relationship Type="http://schemas.openxmlformats.org/officeDocument/2006/relationships/notesSlide" Target="/ppt/notesSlides/notesSlide6.xml" Id="R74557e8830a043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a618a46d3ff4104" /><Relationship Type="http://schemas.openxmlformats.org/officeDocument/2006/relationships/notesSlide" Target="/ppt/notesSlides/notesSlide7.xml" Id="Rdd7405c24ddb44b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079E756-0471-41A4-8B1C-BCE3BFC1E6EC}"/>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6CC41EE7-C102-4C17-87AA-A3E0CE843F00}"/>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D27BA354-058B-4779-9276-C129249A1312}"/>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10</a:t>
            </a:r>
          </a:p>
        </p:txBody>
      </p:sp>
      <p:sp>
        <p:nvSpPr>
          <p:cNvPr id="4" name="">
            <a:extLst xmlns:a="http://schemas.openxmlformats.org/drawingml/2006/main">
              <a:ext uri="{FF2B5EF4-FFF2-40B4-BE49-F238E27FC236}">
                <a16:creationId xmlns:a16="http://schemas.microsoft.com/office/drawing/2014/main" id="{D2390619-C158-48B5-8994-34572A877911}"/>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Prompt Failure Modes and Adversarial Testing</a:t>
            </a:r>
          </a:p>
        </p:txBody>
      </p:sp>
      <p:sp>
        <p:nvSpPr>
          <p:cNvPr id="5" name="">
            <a:extLst xmlns:a="http://schemas.openxmlformats.org/drawingml/2006/main">
              <a:ext uri="{FF2B5EF4-FFF2-40B4-BE49-F238E27FC236}">
                <a16:creationId xmlns:a16="http://schemas.microsoft.com/office/drawing/2014/main" id="{CF15F2D8-1ED4-433E-AA93-7803E077D2AB}"/>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How will this prompt fail under pressure?</a:t>
            </a:r>
          </a:p>
        </p:txBody>
      </p:sp>
      <p:sp>
        <p:nvSpPr>
          <p:cNvPr id="6" name="">
            <a:extLst xmlns:a="http://schemas.openxmlformats.org/drawingml/2006/main">
              <a:ext uri="{FF2B5EF4-FFF2-40B4-BE49-F238E27FC236}">
                <a16:creationId xmlns:a16="http://schemas.microsoft.com/office/drawing/2014/main" id="{AD08DBE7-012B-4F32-AABC-5423193C877B}"/>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2A11F795-B41B-4F4B-B778-40A52E8B5C69}"/>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10</a:t>
            </a:r>
          </a:p>
        </p:txBody>
      </p:sp>
      <p:sp>
        <p:nvSpPr>
          <p:cNvPr id="8" name="">
            <a:extLst xmlns:a="http://schemas.openxmlformats.org/drawingml/2006/main">
              <a:ext uri="{FF2B5EF4-FFF2-40B4-BE49-F238E27FC236}">
                <a16:creationId xmlns:a16="http://schemas.microsoft.com/office/drawing/2014/main" id="{606C7BDF-EA8D-4E2E-B144-97D628A9BD95}"/>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3F3EB9BC-58CF-4E54-8525-FB40AE4B2787}"/>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7732407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2FF9E2C7-D494-4482-AB39-EAE8BA95F4D9}"/>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10 OUTCOMES</a:t>
            </a:r>
          </a:p>
        </p:txBody>
      </p:sp>
      <p:sp>
        <p:nvSpPr>
          <p:cNvPr id="2" name="">
            <a:extLst xmlns:a="http://schemas.openxmlformats.org/drawingml/2006/main">
              <a:ext uri="{FF2B5EF4-FFF2-40B4-BE49-F238E27FC236}">
                <a16:creationId xmlns:a16="http://schemas.microsoft.com/office/drawing/2014/main" id="{E6EF9CAB-D58C-4330-9D6A-26712A0DF7C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EE594D7E-32A7-459B-B3AF-85E97ABC240A}"/>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43C9BD98-C96B-478D-A307-0AC8F31E0A04}"/>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50D99FC3-A513-483B-A4F4-4D7967E2B8A6}"/>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Recognize major prompt failure modes</a:t>
            </a:r>
          </a:p>
        </p:txBody>
      </p:sp>
      <p:sp>
        <p:nvSpPr>
          <p:cNvPr id="6" name="">
            <a:extLst xmlns:a="http://schemas.openxmlformats.org/drawingml/2006/main">
              <a:ext uri="{FF2B5EF4-FFF2-40B4-BE49-F238E27FC236}">
                <a16:creationId xmlns:a16="http://schemas.microsoft.com/office/drawing/2014/main" id="{5F4D6528-46CA-4033-821D-741485EEE1E4}"/>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11226E4F-9BDF-446F-9727-575BBE9316A0}"/>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61A2E3ED-F65C-4079-8292-162DF4104FA1}"/>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Design adversarial cases</a:t>
            </a:r>
          </a:p>
        </p:txBody>
      </p:sp>
      <p:sp>
        <p:nvSpPr>
          <p:cNvPr id="9" name="">
            <a:extLst xmlns:a="http://schemas.openxmlformats.org/drawingml/2006/main">
              <a:ext uri="{FF2B5EF4-FFF2-40B4-BE49-F238E27FC236}">
                <a16:creationId xmlns:a16="http://schemas.microsoft.com/office/drawing/2014/main" id="{C934A78A-6ABF-4F1A-BECE-EDA5C76B1075}"/>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DD6349A9-D6C7-4A19-A676-F4793CFC66C5}"/>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50ADEB5F-622F-4BBB-8D90-1297F0BD2269}"/>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Specify safe failure behavior</a:t>
            </a:r>
          </a:p>
        </p:txBody>
      </p:sp>
      <p:sp>
        <p:nvSpPr>
          <p:cNvPr id="12" name="">
            <a:extLst xmlns:a="http://schemas.openxmlformats.org/drawingml/2006/main">
              <a:ext uri="{FF2B5EF4-FFF2-40B4-BE49-F238E27FC236}">
                <a16:creationId xmlns:a16="http://schemas.microsoft.com/office/drawing/2014/main" id="{CEBF03BE-A39D-48F6-9427-6DF0AB66F85B}"/>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1F1CCA26-B182-467B-8EB2-E9CF9D6ACB94}"/>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E765F33B-1CA8-4EC4-AE6E-256527947B0B}"/>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0280A19C-FE8F-4383-910D-7AEF289466F5}"/>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BC78FC48-FBC7-47C0-A873-9D947B6FC6D0}"/>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38AFCC00-A5D9-4B8B-A371-7CD835FC02BB}"/>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0F381F42-E473-44AC-9FA5-B947A4C98ECD}"/>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1247CA72-3FBC-4861-B191-8302B453AA0B}"/>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CEDD4DAC-5008-423C-A63C-17515823B163}"/>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A6336D21-90BA-4B46-9F32-8BBC7A4243E4}"/>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056332FE-8531-4705-BFB1-D895FC0E0D1D}"/>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8FDC7288-F2A4-4F21-B0E4-FF3293EDE3D4}"/>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2B35B834-9D2E-44FD-92A0-41FB78CC56EB}"/>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8E05F368-44B1-407E-9A3A-7B75A3DB2802}"/>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2DFEECE3-9165-49F8-9D22-076AC64EB1C5}"/>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F3E672F6-D601-48BC-BBF8-7F572CD35E95}"/>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B7485FBB-43DC-4152-99C1-B7C7E950BE55}"/>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7093F4E6-1B92-4CD7-8414-7CE02DBB1F33}"/>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30" name="">
            <a:extLst xmlns:a="http://schemas.openxmlformats.org/drawingml/2006/main">
              <a:ext uri="{FF2B5EF4-FFF2-40B4-BE49-F238E27FC236}">
                <a16:creationId xmlns:a16="http://schemas.microsoft.com/office/drawing/2014/main" id="{41C6E9F9-A899-4589-B91E-0F532FC586B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14501792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7297968-9012-4C35-9BF1-5866A011176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9B3D2598-DE76-4285-A3C7-9DB8001D9F0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52932A4D-3ADE-4598-914A-3C8310E32C67}"/>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A3C06544-C00A-4C65-B1D9-5D887B79709F}"/>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SCOPE DRIFT</a:t>
            </a:r>
          </a:p>
        </p:txBody>
      </p:sp>
      <p:sp>
        <p:nvSpPr>
          <p:cNvPr id="5" name="">
            <a:extLst xmlns:a="http://schemas.openxmlformats.org/drawingml/2006/main">
              <a:ext uri="{FF2B5EF4-FFF2-40B4-BE49-F238E27FC236}">
                <a16:creationId xmlns:a16="http://schemas.microsoft.com/office/drawing/2014/main" id="{0AA43A08-AF83-441F-A3C9-0344FE3B2891}"/>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Answers adjacent questions</a:t>
            </a:r>
          </a:p>
        </p:txBody>
      </p:sp>
      <p:sp>
        <p:nvSpPr>
          <p:cNvPr id="6" name="">
            <a:extLst xmlns:a="http://schemas.openxmlformats.org/drawingml/2006/main">
              <a:ext uri="{FF2B5EF4-FFF2-40B4-BE49-F238E27FC236}">
                <a16:creationId xmlns:a16="http://schemas.microsoft.com/office/drawing/2014/main" id="{3F66E0D4-5B29-4767-8FC6-ACBCDE649D6D}"/>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924C7A4F-74E4-4D75-9E75-191153DA7850}"/>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AUTHORITY LEAK</a:t>
            </a:r>
          </a:p>
        </p:txBody>
      </p:sp>
      <p:sp>
        <p:nvSpPr>
          <p:cNvPr id="8" name="">
            <a:extLst xmlns:a="http://schemas.openxmlformats.org/drawingml/2006/main">
              <a:ext uri="{FF2B5EF4-FFF2-40B4-BE49-F238E27FC236}">
                <a16:creationId xmlns:a16="http://schemas.microsoft.com/office/drawing/2014/main" id="{AB247156-D927-4970-8784-F5D4B42D2391}"/>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Recommendation becomes approval</a:t>
            </a:r>
          </a:p>
        </p:txBody>
      </p:sp>
      <p:sp>
        <p:nvSpPr>
          <p:cNvPr id="9" name="">
            <a:extLst xmlns:a="http://schemas.openxmlformats.org/drawingml/2006/main">
              <a:ext uri="{FF2B5EF4-FFF2-40B4-BE49-F238E27FC236}">
                <a16:creationId xmlns:a16="http://schemas.microsoft.com/office/drawing/2014/main" id="{37F387F1-04E8-410C-B619-5FD570B35C5D}"/>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5F07D58-C8FA-445E-8408-9DE8208765E0}"/>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EVIDENCE LAUNDERING</a:t>
            </a:r>
          </a:p>
        </p:txBody>
      </p:sp>
      <p:sp>
        <p:nvSpPr>
          <p:cNvPr id="11" name="">
            <a:extLst xmlns:a="http://schemas.openxmlformats.org/drawingml/2006/main">
              <a:ext uri="{FF2B5EF4-FFF2-40B4-BE49-F238E27FC236}">
                <a16:creationId xmlns:a16="http://schemas.microsoft.com/office/drawing/2014/main" id="{4BE9AF80-7EBD-4CCC-B811-00F577A4666E}"/>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Unsupported claim gains polish</a:t>
            </a:r>
          </a:p>
        </p:txBody>
      </p:sp>
      <p:sp>
        <p:nvSpPr>
          <p:cNvPr id="12" name="">
            <a:extLst xmlns:a="http://schemas.openxmlformats.org/drawingml/2006/main">
              <a:ext uri="{FF2B5EF4-FFF2-40B4-BE49-F238E27FC236}">
                <a16:creationId xmlns:a16="http://schemas.microsoft.com/office/drawing/2014/main" id="{043F8836-82E6-4DC5-AFD3-74B21187A381}"/>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FAD123D8-3938-4E1F-A4E2-8C4420056DDE}"/>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INJECTION</a:t>
            </a:r>
          </a:p>
        </p:txBody>
      </p:sp>
      <p:sp>
        <p:nvSpPr>
          <p:cNvPr id="14" name="">
            <a:extLst xmlns:a="http://schemas.openxmlformats.org/drawingml/2006/main">
              <a:ext uri="{FF2B5EF4-FFF2-40B4-BE49-F238E27FC236}">
                <a16:creationId xmlns:a16="http://schemas.microsoft.com/office/drawing/2014/main" id="{FE545272-F1B5-4416-9FCE-FB3BD89EBF43}"/>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Input attacks instructions</a:t>
            </a:r>
          </a:p>
        </p:txBody>
      </p:sp>
      <p:sp>
        <p:nvSpPr>
          <p:cNvPr id="15" name="">
            <a:extLst xmlns:a="http://schemas.openxmlformats.org/drawingml/2006/main">
              <a:ext uri="{FF2B5EF4-FFF2-40B4-BE49-F238E27FC236}">
                <a16:creationId xmlns:a16="http://schemas.microsoft.com/office/drawing/2014/main" id="{43477CBD-426D-4AFE-904A-48BEFA6C9593}"/>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1FFAF3EF-9C9D-4C24-8EDB-D16F3E62FF17}"/>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9FE8216D-9FB9-49E9-96EA-0C6BD133E399}"/>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D8F73687-7124-4B14-A748-FFBF40AB033B}"/>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71955B34-3CAA-466E-AE12-7197CDBA90C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AF5E16D7-DD15-4BB8-9285-9DD350A96C3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21" name="">
            <a:extLst xmlns:a="http://schemas.openxmlformats.org/drawingml/2006/main">
              <a:ext uri="{FF2B5EF4-FFF2-40B4-BE49-F238E27FC236}">
                <a16:creationId xmlns:a16="http://schemas.microsoft.com/office/drawing/2014/main" id="{6F602398-521D-43DF-8C62-AA90C6154FF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6631009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6EC5E28-DD21-4B5C-817C-DA4E3941A69D}"/>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032A16FB-9ABF-4502-ADFD-27C02CE475EA}"/>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E9E3BC04-0379-45C5-95DF-5FF4BE33AEEE}"/>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5C136EBE-85B4-456F-A909-745F56ADCA7D}"/>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AF0A6AE7-BC46-4F4A-83B0-8388FA36BFCB}"/>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Malicious input</a:t>
            </a:r>
          </a:p>
        </p:txBody>
      </p:sp>
      <p:sp>
        <p:nvSpPr>
          <p:cNvPr id="6" name="">
            <a:extLst xmlns:a="http://schemas.openxmlformats.org/drawingml/2006/main">
              <a:ext uri="{FF2B5EF4-FFF2-40B4-BE49-F238E27FC236}">
                <a16:creationId xmlns:a16="http://schemas.microsoft.com/office/drawing/2014/main" id="{02465E08-D7C5-46FE-B7C4-8D8B90ECEBB3}"/>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6F66F025-5F61-4C45-B3BD-60624C84FA75}"/>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C54DFFFD-0926-4DD5-A960-503FB1564496}"/>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CA898899-B56F-47AE-81CD-9FEFA2C5D13B}"/>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6C402860-3423-45FF-864F-7B10AA081BFB}"/>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Instruction boundary</a:t>
            </a:r>
          </a:p>
        </p:txBody>
      </p:sp>
      <p:sp>
        <p:nvSpPr>
          <p:cNvPr id="11" name="">
            <a:extLst xmlns:a="http://schemas.openxmlformats.org/drawingml/2006/main">
              <a:ext uri="{FF2B5EF4-FFF2-40B4-BE49-F238E27FC236}">
                <a16:creationId xmlns:a16="http://schemas.microsoft.com/office/drawing/2014/main" id="{DD851CEF-0658-47F3-ADE6-4B30A55DF4F8}"/>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3CE74D9F-54B5-4F7E-863D-8A63F4212C53}"/>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BAA5DA8B-D654-44DF-B4D1-8D8BA1BC65C1}"/>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F8F6EB8E-43FF-40EE-BE6A-DC01454D1C32}"/>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8EBB3624-420B-4394-BD8C-ACDD90CB1128}"/>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Evidence filter</a:t>
            </a:r>
          </a:p>
        </p:txBody>
      </p:sp>
      <p:sp>
        <p:nvSpPr>
          <p:cNvPr id="16" name="">
            <a:extLst xmlns:a="http://schemas.openxmlformats.org/drawingml/2006/main">
              <a:ext uri="{FF2B5EF4-FFF2-40B4-BE49-F238E27FC236}">
                <a16:creationId xmlns:a16="http://schemas.microsoft.com/office/drawing/2014/main" id="{D078CC0C-B523-4FAC-B129-261A77DF2070}"/>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143F1FD4-2803-47C2-AD4D-4B7CB34AAF67}"/>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2C2EEF77-021B-4B56-8783-0888D2A55971}"/>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8B181178-05C0-43CE-9D25-5413A0322906}"/>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5F91B0ED-9D5A-4C8E-A9D0-2F273A7D326C}"/>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Safe state</a:t>
            </a:r>
          </a:p>
        </p:txBody>
      </p:sp>
      <p:sp>
        <p:nvSpPr>
          <p:cNvPr id="21" name="">
            <a:extLst xmlns:a="http://schemas.openxmlformats.org/drawingml/2006/main">
              <a:ext uri="{FF2B5EF4-FFF2-40B4-BE49-F238E27FC236}">
                <a16:creationId xmlns:a16="http://schemas.microsoft.com/office/drawing/2014/main" id="{BC9B0BA0-063B-42B8-A177-C7D59A9A7B68}"/>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3BB5DFB5-9A26-49A5-98C2-84CB60A5F0EA}"/>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E9C858E7-7723-4D51-9479-68715634996A}"/>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0E29A85B-83EF-4A6B-A50B-F3FCE9E24E94}"/>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5E4309C4-F879-45C7-B21E-0ECD5AB7D184}"/>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Human request</a:t>
            </a:r>
          </a:p>
        </p:txBody>
      </p:sp>
      <p:sp>
        <p:nvSpPr>
          <p:cNvPr id="26" name="">
            <a:extLst xmlns:a="http://schemas.openxmlformats.org/drawingml/2006/main">
              <a:ext uri="{FF2B5EF4-FFF2-40B4-BE49-F238E27FC236}">
                <a16:creationId xmlns:a16="http://schemas.microsoft.com/office/drawing/2014/main" id="{19B2922A-C0CA-4D71-A26C-D0C1D32AFD7A}"/>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E4CA3087-591D-4D11-A996-27AD690E04AB}"/>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E53E6733-93E7-44B5-9EAC-72B6751297C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29" name="">
            <a:extLst xmlns:a="http://schemas.openxmlformats.org/drawingml/2006/main">
              <a:ext uri="{FF2B5EF4-FFF2-40B4-BE49-F238E27FC236}">
                <a16:creationId xmlns:a16="http://schemas.microsoft.com/office/drawing/2014/main" id="{960D1E58-4D79-4406-925D-1A3CDC2E8CDE}"/>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9394004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26A6ECC5-589F-4804-81FE-383DD763427F}"/>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A3EC13E9-1A40-4E20-9E7F-8FB5248FDCC4}"/>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4659E2CA-3981-4553-85AA-38C7641F01BC}"/>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27261832-B966-4910-8DF8-EBA5390E32DC}"/>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8F7D7E5A-AD40-45FE-8ADB-F4D805D4C7EF}"/>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Attack another team’s prompt with eight hostile or degraded inputs.</a:t>
            </a:r>
          </a:p>
        </p:txBody>
      </p:sp>
      <p:sp>
        <p:nvSpPr>
          <p:cNvPr id="6" name="">
            <a:extLst xmlns:a="http://schemas.openxmlformats.org/drawingml/2006/main">
              <a:ext uri="{FF2B5EF4-FFF2-40B4-BE49-F238E27FC236}">
                <a16:creationId xmlns:a16="http://schemas.microsoft.com/office/drawing/2014/main" id="{878F8DA7-1729-4589-9476-DBB3218CC2FB}"/>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7246A6D9-1BCB-4EFA-93B6-7B2DAC4481BD}"/>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D1E8C622-9B10-4EF6-BC0C-B0F4942379F5}"/>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Break it</a:t>
            </a:r>
          </a:p>
        </p:txBody>
      </p:sp>
      <p:sp>
        <p:nvSpPr>
          <p:cNvPr id="9" name="">
            <a:extLst xmlns:a="http://schemas.openxmlformats.org/drawingml/2006/main">
              <a:ext uri="{FF2B5EF4-FFF2-40B4-BE49-F238E27FC236}">
                <a16:creationId xmlns:a16="http://schemas.microsoft.com/office/drawing/2014/main" id="{6F5A686F-C55E-4385-9A33-D54CD32C904F}"/>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FFE7A5E9-7310-45E8-AB7D-02097C9B0A73}"/>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1AAF23B4-C894-4B34-8263-ED9707A43404}"/>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Capture evidence</a:t>
            </a:r>
          </a:p>
        </p:txBody>
      </p:sp>
      <p:sp>
        <p:nvSpPr>
          <p:cNvPr id="12" name="">
            <a:extLst xmlns:a="http://schemas.openxmlformats.org/drawingml/2006/main">
              <a:ext uri="{FF2B5EF4-FFF2-40B4-BE49-F238E27FC236}">
                <a16:creationId xmlns:a16="http://schemas.microsoft.com/office/drawing/2014/main" id="{53BD8FC7-2D6F-41EE-95CF-FF2E8B1B039C}"/>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B48AB50-E71C-42D7-B06F-EF07673CC673}"/>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354E7686-3110-46B4-8D99-1B4972DBDB37}"/>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Repair the invariant</a:t>
            </a:r>
          </a:p>
        </p:txBody>
      </p:sp>
      <p:sp>
        <p:nvSpPr>
          <p:cNvPr id="15" name="">
            <a:extLst xmlns:a="http://schemas.openxmlformats.org/drawingml/2006/main">
              <a:ext uri="{FF2B5EF4-FFF2-40B4-BE49-F238E27FC236}">
                <a16:creationId xmlns:a16="http://schemas.microsoft.com/office/drawing/2014/main" id="{B5121FC5-B486-4070-9292-3DDAA4124BDF}"/>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2E2E483C-C128-49BD-BDBA-7193012847D6}"/>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AEBA60BB-A0D1-4AAB-A202-7C87E4E722C7}"/>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18" name="">
            <a:extLst xmlns:a="http://schemas.openxmlformats.org/drawingml/2006/main">
              <a:ext uri="{FF2B5EF4-FFF2-40B4-BE49-F238E27FC236}">
                <a16:creationId xmlns:a16="http://schemas.microsoft.com/office/drawing/2014/main" id="{16689617-A5C9-49A9-AB36-59B788F68008}"/>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51072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3E35088-30EE-4CAE-9D9A-7D5B8C02BACA}"/>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F8457AB3-00AD-499D-86F2-895D4F892146}"/>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6F6693D2-E9A1-4458-9E22-9E7408ED53E4}"/>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Add failure behavior without creating an unreadable exception list.</a:t>
            </a:r>
          </a:p>
        </p:txBody>
      </p:sp>
      <p:sp>
        <p:nvSpPr>
          <p:cNvPr id="4" name="">
            <a:extLst xmlns:a="http://schemas.openxmlformats.org/drawingml/2006/main">
              <a:ext uri="{FF2B5EF4-FFF2-40B4-BE49-F238E27FC236}">
                <a16:creationId xmlns:a16="http://schemas.microsoft.com/office/drawing/2014/main" id="{451D0DBF-4908-4F37-95C6-D9D714F8D90F}"/>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85E1A7B9-A90D-4E26-8312-13BAC92027D2}"/>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23FBEAC8-ADE7-4D70-A927-234F0FBC415F}"/>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Missing</a:t>
            </a:r>
          </a:p>
        </p:txBody>
      </p:sp>
      <p:sp>
        <p:nvSpPr>
          <p:cNvPr id="7" name="">
            <a:extLst xmlns:a="http://schemas.openxmlformats.org/drawingml/2006/main">
              <a:ext uri="{FF2B5EF4-FFF2-40B4-BE49-F238E27FC236}">
                <a16:creationId xmlns:a16="http://schemas.microsoft.com/office/drawing/2014/main" id="{C8074FE0-BBF7-4EB1-9CCF-E5F6D4F3E0B0}"/>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52A33652-1C47-4B69-9603-69EBD87D7AE3}"/>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17A7972B-872F-4A3C-BD73-0889A0D27CEB}"/>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Conflicting</a:t>
            </a:r>
          </a:p>
        </p:txBody>
      </p:sp>
      <p:sp>
        <p:nvSpPr>
          <p:cNvPr id="10" name="">
            <a:extLst xmlns:a="http://schemas.openxmlformats.org/drawingml/2006/main">
              <a:ext uri="{FF2B5EF4-FFF2-40B4-BE49-F238E27FC236}">
                <a16:creationId xmlns:a16="http://schemas.microsoft.com/office/drawing/2014/main" id="{2DD9A6A9-9296-4891-B8EA-DDDAD136DA91}"/>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F01CA326-E3E5-4C9A-8739-1A40D3B194A6}"/>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6986FF2E-9D4A-4CDA-A932-85EE111550C5}"/>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Malicious</a:t>
            </a:r>
          </a:p>
        </p:txBody>
      </p:sp>
      <p:sp>
        <p:nvSpPr>
          <p:cNvPr id="13" name="">
            <a:extLst xmlns:a="http://schemas.openxmlformats.org/drawingml/2006/main">
              <a:ext uri="{FF2B5EF4-FFF2-40B4-BE49-F238E27FC236}">
                <a16:creationId xmlns:a16="http://schemas.microsoft.com/office/drawing/2014/main" id="{F8DB76DC-FAEA-4D67-BEBB-2D65AADEA18B}"/>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E78AA8FA-F8D0-49D9-94D6-76D85E34A80B}"/>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89822CAA-22CB-47F1-B626-A099839D4A75}"/>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Oversized</a:t>
            </a:r>
          </a:p>
        </p:txBody>
      </p:sp>
      <p:sp>
        <p:nvSpPr>
          <p:cNvPr id="16" name="">
            <a:extLst xmlns:a="http://schemas.openxmlformats.org/drawingml/2006/main">
              <a:ext uri="{FF2B5EF4-FFF2-40B4-BE49-F238E27FC236}">
                <a16:creationId xmlns:a16="http://schemas.microsoft.com/office/drawing/2014/main" id="{CFE934CB-BF8D-4B48-A58B-8CD28403A9F5}"/>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19DCA191-35BE-438F-B264-29ADD114F0B0}"/>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E65375C6-F3BF-4B8D-82ED-9BFD1156998E}"/>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Tool failure</a:t>
            </a:r>
          </a:p>
        </p:txBody>
      </p:sp>
      <p:sp>
        <p:nvSpPr>
          <p:cNvPr id="19" name="">
            <a:extLst xmlns:a="http://schemas.openxmlformats.org/drawingml/2006/main">
              <a:ext uri="{FF2B5EF4-FFF2-40B4-BE49-F238E27FC236}">
                <a16:creationId xmlns:a16="http://schemas.microsoft.com/office/drawing/2014/main" id="{EA8CC598-32C5-440B-9AC1-EC5FBD52540F}"/>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4D570CA9-BCB9-4F94-907F-A855803EF2EF}"/>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42A237E9-2826-4955-A139-B63DA1F206C7}"/>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Schema mismatch</a:t>
            </a:r>
          </a:p>
        </p:txBody>
      </p:sp>
      <p:sp>
        <p:nvSpPr>
          <p:cNvPr id="22" name="">
            <a:extLst xmlns:a="http://schemas.openxmlformats.org/drawingml/2006/main">
              <a:ext uri="{FF2B5EF4-FFF2-40B4-BE49-F238E27FC236}">
                <a16:creationId xmlns:a16="http://schemas.microsoft.com/office/drawing/2014/main" id="{8DDB2112-803A-4AFE-A298-2EE2723CF34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C4714BB3-1DC0-4106-A748-C238EE0457D2}"/>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10  •  CODE REVIEW HARNESS</a:t>
            </a:r>
          </a:p>
        </p:txBody>
      </p:sp>
      <p:sp>
        <p:nvSpPr>
          <p:cNvPr id="24" name="">
            <a:extLst xmlns:a="http://schemas.openxmlformats.org/drawingml/2006/main">
              <a:ext uri="{FF2B5EF4-FFF2-40B4-BE49-F238E27FC236}">
                <a16:creationId xmlns:a16="http://schemas.microsoft.com/office/drawing/2014/main" id="{69A8DA34-8312-44E6-BCD7-889D321F4D43}"/>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200152185"/>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9B19CA-548F-4D9F-87F0-14B6B9B9B3AA}"/>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10  •  EXIT TICKET</a:t>
            </a:r>
          </a:p>
        </p:txBody>
      </p:sp>
      <p:sp>
        <p:nvSpPr>
          <p:cNvPr id="2" name="">
            <a:extLst xmlns:a="http://schemas.openxmlformats.org/drawingml/2006/main">
              <a:ext uri="{FF2B5EF4-FFF2-40B4-BE49-F238E27FC236}">
                <a16:creationId xmlns:a16="http://schemas.microsoft.com/office/drawing/2014/main" id="{28FBAE4A-9447-491A-853A-7D4D4AC4C38A}"/>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Demonstrate a fail-closed path that preserves provenance and requests human action.</a:t>
            </a:r>
          </a:p>
        </p:txBody>
      </p:sp>
      <p:sp>
        <p:nvSpPr>
          <p:cNvPr id="3" name="">
            <a:extLst xmlns:a="http://schemas.openxmlformats.org/drawingml/2006/main">
              <a:ext uri="{FF2B5EF4-FFF2-40B4-BE49-F238E27FC236}">
                <a16:creationId xmlns:a16="http://schemas.microsoft.com/office/drawing/2014/main" id="{12E14B68-56CB-4C03-B67E-F05FA4851470}"/>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663F2D50-4B53-4E15-B50B-9A6BA011DDA6}"/>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110FFD8D-F503-4290-9F31-3FD2386D86E8}"/>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NEXT: SESSION 11</a:t>
            </a:r>
          </a:p>
        </p:txBody>
      </p:sp>
    </p:spTree>
    <p:extLst>
      <p:ext uri="{BB962C8B-B14F-4D97-AF65-F5344CB8AC3E}">
        <p14:creationId xmlns:p14="http://schemas.microsoft.com/office/powerpoint/2010/main" val="13808393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2026-07-30T15:55:23.9880000Z</dcterms:created>
  <dcterms:modified xsi:type="dcterms:W3CDTF">2026-07-30T15:55:23.9880000Z</dcterms:modified>
</coreProperties>
</file>