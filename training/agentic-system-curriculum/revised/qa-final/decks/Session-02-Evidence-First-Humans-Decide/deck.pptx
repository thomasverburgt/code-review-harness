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29f33e1ce24b69" /><Relationship Type="http://schemas.openxmlformats.org/officeDocument/2006/relationships/extended-properties" Target="/docProps/app.xml" Id="Rfd7f315816dd4592" /><Relationship Type="http://schemas.openxmlformats.org/officeDocument/2006/relationships/officeDocument" Target="/ppt/presentation.xml" Id="R856a5e259da54eee" /></Relationships>
</file>

<file path=ppt/presentation.xml><?xml version="1.0" encoding="utf-8"?>
<p:presentation xmlns:p="http://schemas.openxmlformats.org/presentationml/2006/main">
  <p:sldMasterIdLst>
    <p:sldMasterId xmlns:r="http://schemas.openxmlformats.org/officeDocument/2006/relationships" id="2147483648" r:id="Rf6579e2f5473459e"/>
  </p:sldMasterIdLst>
  <p:notesMasterIdLst>
    <p:notesMasterId xmlns:r="http://schemas.openxmlformats.org/officeDocument/2006/relationships" r:id="R4b3d32cc4c104945"/>
  </p:notesMasterIdLst>
  <p:sldIdLst>
    <p:sldId xmlns:r="http://schemas.openxmlformats.org/officeDocument/2006/relationships" id="256" r:id="Rb687cd1268dd4e15"/>
    <p:sldId xmlns:r="http://schemas.openxmlformats.org/officeDocument/2006/relationships" id="257" r:id="R813a4a2840394a7c"/>
    <p:sldId xmlns:r="http://schemas.openxmlformats.org/officeDocument/2006/relationships" id="258" r:id="R6d1e14b80b9c492d"/>
    <p:sldId xmlns:r="http://schemas.openxmlformats.org/officeDocument/2006/relationships" id="259" r:id="R157799b0d8454eb2"/>
    <p:sldId xmlns:r="http://schemas.openxmlformats.org/officeDocument/2006/relationships" id="260" r:id="R2fab2fe1ad8d492d"/>
    <p:sldId xmlns:r="http://schemas.openxmlformats.org/officeDocument/2006/relationships" id="261" r:id="R00d76dd4a4f64d13"/>
    <p:sldId xmlns:r="http://schemas.openxmlformats.org/officeDocument/2006/relationships" id="262" r:id="R347bec6669b244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f53c0927404ff9" /><Relationship Type="http://schemas.openxmlformats.org/officeDocument/2006/relationships/slideMaster" Target="/ppt/slideMasters/slideMaster1.xml" Id="Rf6579e2f5473459e" /><Relationship Type="http://schemas.openxmlformats.org/officeDocument/2006/relationships/notesMaster" Target="/ppt/notesMasters/notesMaster1.xml" Id="R4b3d32cc4c104945" /><Relationship Type="http://schemas.openxmlformats.org/officeDocument/2006/relationships/presProps" Target="/ppt/presProps.xml" Id="Rb9c613d2f45e40d7" /><Relationship Type="http://schemas.openxmlformats.org/officeDocument/2006/relationships/tableStyles" Target="/ppt/tableStyles.xml" Id="Ra5bdb1cc098b475a" /><Relationship Type="http://schemas.openxmlformats.org/officeDocument/2006/relationships/slide" Target="/ppt/slides/slide1.xml" Id="Rb687cd1268dd4e15" /><Relationship Type="http://schemas.openxmlformats.org/officeDocument/2006/relationships/slide" Target="/ppt/slides/slide2.xml" Id="R813a4a2840394a7c" /><Relationship Type="http://schemas.openxmlformats.org/officeDocument/2006/relationships/slide" Target="/ppt/slides/slide3.xml" Id="R6d1e14b80b9c492d" /><Relationship Type="http://schemas.openxmlformats.org/officeDocument/2006/relationships/slide" Target="/ppt/slides/slide4.xml" Id="R157799b0d8454eb2" /><Relationship Type="http://schemas.openxmlformats.org/officeDocument/2006/relationships/slide" Target="/ppt/slides/slide5.xml" Id="R2fab2fe1ad8d492d" /><Relationship Type="http://schemas.openxmlformats.org/officeDocument/2006/relationships/slide" Target="/ppt/slides/slide6.xml" Id="R00d76dd4a4f64d13" /><Relationship Type="http://schemas.openxmlformats.org/officeDocument/2006/relationships/slide" Target="/ppt/slides/slide7.xml" Id="R347bec6669b244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5410e6af1ad4fe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9e8a36ae254506" /><Relationship Type="http://schemas.openxmlformats.org/officeDocument/2006/relationships/notesMaster" Target="/ppt/notesMasters/notesMaster1.xml" Id="Re6cb472d67f640b7" /></Relationships>
</file>

<file path=ppt/notesSlides/_rels/notesSlide2.xml.rels>&#65279;<?xml version="1.0" encoding="utf-8"?><Relationships xmlns="http://schemas.openxmlformats.org/package/2006/relationships"><Relationship Type="http://schemas.openxmlformats.org/officeDocument/2006/relationships/slide" Target="/ppt/slides/slide2.xml" Id="R5210c5b2c2ce45a3" /><Relationship Type="http://schemas.openxmlformats.org/officeDocument/2006/relationships/notesMaster" Target="/ppt/notesMasters/notesMaster1.xml" Id="Rb1d449244a114e9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c845f0807814337" /><Relationship Type="http://schemas.openxmlformats.org/officeDocument/2006/relationships/notesMaster" Target="/ppt/notesMasters/notesMaster1.xml" Id="Rd899d3a551434e18"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3112ea5ba845b0" /><Relationship Type="http://schemas.openxmlformats.org/officeDocument/2006/relationships/notesMaster" Target="/ppt/notesMasters/notesMaster1.xml" Id="R5315f0e238c24d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71b8b76bfa4e6c" /><Relationship Type="http://schemas.openxmlformats.org/officeDocument/2006/relationships/notesMaster" Target="/ppt/notesMasters/notesMaster1.xml" Id="Ra6fa1c9e94ae49c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95d43aee5764826" /><Relationship Type="http://schemas.openxmlformats.org/officeDocument/2006/relationships/notesMaster" Target="/ppt/notesMasters/notesMaster1.xml" Id="Rfb0045a45c0b407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af5d7d348a546c3" /><Relationship Type="http://schemas.openxmlformats.org/officeDocument/2006/relationships/notesMaster" Target="/ppt/notesMasters/notesMaster1.xml" Id="R6310f44acc00481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and read the driving question aloud. Ask for a quick show of hands: who has used an AI assistant, who has relied on an automated code-review tool, and who has had to explain why an automated finding was correct? Frame this session as engineering a trustworthy system around model capability. Preview that every claim in the course will be tied to evidence, a contract, a workflow state, or a human authority boundary. Do not teach the whole session from the title slide; use it to establish the problem and invite one concrete experience from the room.</a:t>
            </a:r>
          </a:p>
          <a:p xmlns:a="http://schemas.openxmlformats.org/drawingml/2006/main">
            <a:r>
              <a:t/>
            </a:r>
          </a:p>
          <a:p xmlns:a="http://schemas.openxmlformats.org/drawingml/2006/main">
            <a:r>
              <a:t>[Sources]</a:t>
            </a:r>
          </a:p>
          <a:p xmlns:a="http://schemas.openxmlformats.org/drawingml/2006/main">
            <a:r>
              <a:t>- Code Review Harness repository: docs/philosophy.md; governance/human-review-and-maturity.md; contracts/evidence-contract.md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outcomes as performance statements, not topics. Tell learners what evidence they will create for each outcome. Preview the rhythm: a small amount of instruction followed by a worked example, a team lab, a prompt-writing task, and a short exit ticket. Ask each learner to choose the outcome that feels least familiar and write it at the top of their notes. Revisit that choice at the end. Keep this slide under five minutes; its purpose is to make success inspectable.</a:t>
            </a:r>
          </a:p>
          <a:p xmlns:a="http://schemas.openxmlformats.org/drawingml/2006/main">
            <a:r>
              <a:t/>
            </a:r>
          </a:p>
          <a:p xmlns:a="http://schemas.openxmlformats.org/drawingml/2006/main">
            <a:r>
              <a:t>[Sources]</a:t>
            </a:r>
          </a:p>
          <a:p xmlns:a="http://schemas.openxmlformats.org/drawingml/2006/main">
            <a:r>
              <a:t>- Code Review Harness repository: docs/philosophy.md; governance/human-review-and-maturity.md; contracts/evidence-contract.md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four terms by asking learners to compare responsibilities, not definitions. For each card, ask: what can this thing guarantee, and what can it only attempt? Use the connecting marks to emphasize that the concepts cooperate but are not interchangeable. Invite learners to supply an example from familiar CI/CD tooling. Correct any answer that treats fluent language as proof of evidence, treats a workflow as a simple checklist, or treats the harness as merely a place to store prompts. End by having pairs explain the full mental model in sixty seconds without using the word “AI.”</a:t>
            </a:r>
          </a:p>
          <a:p xmlns:a="http://schemas.openxmlformats.org/drawingml/2006/main">
            <a:r>
              <a:t/>
            </a:r>
          </a:p>
          <a:p xmlns:a="http://schemas.openxmlformats.org/drawingml/2006/main">
            <a:r>
              <a:t>[Sources]</a:t>
            </a:r>
          </a:p>
          <a:p xmlns:a="http://schemas.openxmlformats.org/drawingml/2006/main">
            <a:r>
              <a:t>- Code Review Harness repository: docs/philosophy.md; governance/human-review-and-maturity.md; contracts/evidence-contract.md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example from left to right. At each handoff ask the room to name the producer, artifact, contract, validation condition, and consumer. Pause before the final box and ask who has authority to act. If the session includes failure branches, show that a safe system records why progress stopped instead of hiding the gap or guessing. Use one concrete repository example—such as a dependency, a secret, or a release artifact—but keep the technical details secondary to the control flow. The goal is for learners to see causality and traceability, not memorize labels.</a:t>
            </a:r>
          </a:p>
          <a:p xmlns:a="http://schemas.openxmlformats.org/drawingml/2006/main">
            <a:r>
              <a:t/>
            </a:r>
          </a:p>
          <a:p xmlns:a="http://schemas.openxmlformats.org/drawingml/2006/main">
            <a:r>
              <a:t>[Sources]</a:t>
            </a:r>
          </a:p>
          <a:p xmlns:a="http://schemas.openxmlformats.org/drawingml/2006/main">
            <a:r>
              <a:t>- Code Review Harness repository: docs/philosophy.md; governance/human-review-and-maturity.md; contracts/evidence-contract.md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 teams of three or four and assign one recorder. Read the task exactly once, then ask teams to restate the acceptance condition in their own words. During work time, circulate and ask evidence questions rather than supplying answers. At the critique, require another team to identify one strength, one contract gap, and one unsafe assumption. Give teams five minutes to repair the artifact before debrief. Collect the final artifact as course evidence; it will become input to the capstone. If time compresses, protect the critique and repair steps—the learning comes from validation, not only drafting.</a:t>
            </a:r>
          </a:p>
          <a:p xmlns:a="http://schemas.openxmlformats.org/drawingml/2006/main">
            <a:r>
              <a:t/>
            </a:r>
          </a:p>
          <a:p xmlns:a="http://schemas.openxmlformats.org/drawingml/2006/main">
            <a:r>
              <a:t>[Sources]</a:t>
            </a:r>
          </a:p>
          <a:p xmlns:a="http://schemas.openxmlformats.org/drawingml/2006/main">
            <a:r>
              <a:t>- Code Review Harness repository: docs/philosophy.md; governance/human-review-and-maturity.md; contracts/evidence-contract.md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 learners to draft in the six visible blocks rather than writing a long narrative prompt. For each block, they must cite the contract or role specification that justifies it. Pair reviewers should look for contradictions across blocks: a scope that exceeds the authoritative question, a method that admits evidence the input rules reject, or an output that implies decision authority. Ask reviewers to propose the smallest repair that restores the invariant. End by selecting one clause and testing it verbally with a hostile input. Remind the class that prompt quality is demonstrated by behavior across cases, not by how polished the wording sounds.</a:t>
            </a:r>
          </a:p>
          <a:p xmlns:a="http://schemas.openxmlformats.org/drawingml/2006/main">
            <a:r>
              <a:t/>
            </a:r>
          </a:p>
          <a:p xmlns:a="http://schemas.openxmlformats.org/drawingml/2006/main">
            <a:r>
              <a:t>[Sources]</a:t>
            </a:r>
          </a:p>
          <a:p xmlns:a="http://schemas.openxmlformats.org/drawingml/2006/main">
            <a:r>
              <a:t>- Code Review Harness repository: docs/philosophy.md; governance/human-review-and-maturity.md; contracts/evidence-contract.md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learners two quiet minutes to answer the exit ticket individually. Require an evidence-backed response, not a slogan. Invite two contrasting answers and ask the group which is more reproducible and why. Collect responses or have learners commit them to the course workspace. Close by connecting today’s artifact to the next session and by restating the invariant: evidence is observable, assessment is bounded, recommendations inform, and humans decide. If misconceptions remain, record them as input to the next session rather than extending the lecture.</a:t>
            </a:r>
          </a:p>
          <a:p xmlns:a="http://schemas.openxmlformats.org/drawingml/2006/main">
            <a:r>
              <a:t/>
            </a:r>
          </a:p>
          <a:p xmlns:a="http://schemas.openxmlformats.org/drawingml/2006/main">
            <a:r>
              <a:t>[Sources]</a:t>
            </a:r>
          </a:p>
          <a:p xmlns:a="http://schemas.openxmlformats.org/drawingml/2006/main">
            <a:r>
              <a:t>- Code Review Harness repository: docs/philosophy.md; governance/human-review-and-maturity.md; contracts/evidence-contract.md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0f5982d63a1488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432bb629a774b42" /><Relationship Type="http://schemas.openxmlformats.org/officeDocument/2006/relationships/slideLayout" Target="/ppt/slideLayouts/slideLayout1.xml" Id="Red407ad8734346b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407ad8734346b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d20a0fa8c774590" /><Relationship Type="http://schemas.openxmlformats.org/officeDocument/2006/relationships/notesSlide" Target="/ppt/notesSlides/notesSlide1.xml" Id="R9869eb050dcc4f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745b47bdb114011" /><Relationship Type="http://schemas.openxmlformats.org/officeDocument/2006/relationships/notesSlide" Target="/ppt/notesSlides/notesSlide2.xml" Id="Rc91aefaae31f4a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c714cf0909c4755" /><Relationship Type="http://schemas.openxmlformats.org/officeDocument/2006/relationships/notesSlide" Target="/ppt/notesSlides/notesSlide3.xml" Id="R88cd0238812a4d3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c3d9327eec1447c" /><Relationship Type="http://schemas.openxmlformats.org/officeDocument/2006/relationships/notesSlide" Target="/ppt/notesSlides/notesSlide4.xml" Id="R63c8818720874d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0efb26da4f14f0f" /><Relationship Type="http://schemas.openxmlformats.org/officeDocument/2006/relationships/notesSlide" Target="/ppt/notesSlides/notesSlide5.xml" Id="Rfb3c8f5c3274453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a0a6180afcd4c53" /><Relationship Type="http://schemas.openxmlformats.org/officeDocument/2006/relationships/notesSlide" Target="/ppt/notesSlides/notesSlide6.xml" Id="Rccb6665641d341d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623e09354fa4637" /><Relationship Type="http://schemas.openxmlformats.org/officeDocument/2006/relationships/notesSlide" Target="/ppt/notesSlides/notesSlide7.xml" Id="R4655f66df2574b5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FA92DBA-D5D7-4DF0-A25C-E85315061644}"/>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oundRect">
            <a:avLst>
              <a:gd name="adj" fmla="val 1600"/>
            </a:avLst>
          </a:prstGeom>
          <a:solidFill xmlns:a="http://schemas.openxmlformats.org/drawingml/2006/main">
            <a:srgbClr val="EAF5FB"/>
          </a:solidFill>
          <a:ln xmlns:a="http://schemas.openxmlformats.org/drawingml/2006/main" w="9525">
            <a:solidFill>
              <a:srgbClr val="EAF5FB"/>
            </a:solidFill>
            <a:prstDash val="solid"/>
          </a:ln>
        </p:spPr>
      </p:sp>
      <p:sp>
        <p:nvSpPr>
          <p:cNvPr id="2" name="">
            <a:extLst xmlns:a="http://schemas.openxmlformats.org/drawingml/2006/main">
              <a:ext uri="{FF2B5EF4-FFF2-40B4-BE49-F238E27FC236}">
                <a16:creationId xmlns:a16="http://schemas.microsoft.com/office/drawing/2014/main" id="{5D9670B4-238D-4498-8F02-A612DA828BCC}"/>
              </a:ext>
            </a:extLst>
          </p:cNvPr>
          <p:cNvSpPr>
            <a:spLocks xmlns:a="http://schemas.openxmlformats.org/drawingml/2006/main" noGrp="1"/>
          </p:cNvSpPr>
          <p:nvPr/>
        </p:nvSpPr>
        <p:spPr>
          <a:xfrm xmlns:a="http://schemas.openxmlformats.org/drawingml/2006/main">
            <a:off x="7429500" y="0"/>
            <a:ext cx="114300" cy="68580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3" name="">
            <a:extLst xmlns:a="http://schemas.openxmlformats.org/drawingml/2006/main">
              <a:ext uri="{FF2B5EF4-FFF2-40B4-BE49-F238E27FC236}">
                <a16:creationId xmlns:a16="http://schemas.microsoft.com/office/drawing/2014/main" id="{F7F2C222-3EE2-4935-9BB9-19847F3A8EB4}"/>
              </a:ext>
            </a:extLst>
          </p:cNvPr>
          <p:cNvSpPr>
            <a:spLocks xmlns:a="http://schemas.openxmlformats.org/drawingml/2006/main" noGrp="1"/>
          </p:cNvSpPr>
          <p:nvPr/>
        </p:nvSpPr>
        <p:spPr>
          <a:xfrm xmlns:a="http://schemas.openxmlformats.org/drawingml/2006/main">
            <a:off x="495300" y="495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SESSION 02</a:t>
            </a:r>
          </a:p>
        </p:txBody>
      </p:sp>
      <p:sp>
        <p:nvSpPr>
          <p:cNvPr id="4" name="">
            <a:extLst xmlns:a="http://schemas.openxmlformats.org/drawingml/2006/main">
              <a:ext uri="{FF2B5EF4-FFF2-40B4-BE49-F238E27FC236}">
                <a16:creationId xmlns:a16="http://schemas.microsoft.com/office/drawing/2014/main" id="{B3218050-F80D-45CB-81B6-45AE389E7FF2}"/>
              </a:ext>
            </a:extLst>
          </p:cNvPr>
          <p:cNvSpPr>
            <a:spLocks xmlns:a="http://schemas.openxmlformats.org/drawingml/2006/main" noGrp="1"/>
          </p:cNvSpPr>
          <p:nvPr/>
        </p:nvSpPr>
        <p:spPr>
          <a:xfrm xmlns:a="http://schemas.openxmlformats.org/drawingml/2006/main">
            <a:off x="495300" y="142875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900" b="1">
                <a:solidFill>
                  <a:srgbClr val="111827"/>
                </a:solidFill>
                <a:latin typeface="Aptos"/>
                <a:ea typeface="Aptos"/>
                <a:cs typeface="Aptos"/>
              </a:defRPr>
            </a:pPr>
            <a:r>
              <a:rPr sz="3900" b="1">
                <a:solidFill>
                  <a:srgbClr val="111827"/>
                </a:solidFill>
                <a:latin typeface="Aptos"/>
                <a:ea typeface="Aptos"/>
                <a:cs typeface="Aptos"/>
              </a:rPr>
              <a:t>Evidence First. Humans Decide.</a:t>
            </a:r>
          </a:p>
        </p:txBody>
      </p:sp>
      <p:sp>
        <p:nvSpPr>
          <p:cNvPr id="5" name="">
            <a:extLst xmlns:a="http://schemas.openxmlformats.org/drawingml/2006/main">
              <a:ext uri="{FF2B5EF4-FFF2-40B4-BE49-F238E27FC236}">
                <a16:creationId xmlns:a16="http://schemas.microsoft.com/office/drawing/2014/main" id="{5904021F-258B-48C2-80CE-844653A3E6EF}"/>
              </a:ext>
            </a:extLst>
          </p:cNvPr>
          <p:cNvSpPr>
            <a:spLocks xmlns:a="http://schemas.openxmlformats.org/drawingml/2006/main" noGrp="1"/>
          </p:cNvSpPr>
          <p:nvPr/>
        </p:nvSpPr>
        <p:spPr>
          <a:xfrm xmlns:a="http://schemas.openxmlformats.org/drawingml/2006/main">
            <a:off x="495300" y="3952875"/>
            <a:ext cx="5905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52606D"/>
                </a:solidFill>
                <a:latin typeface="Aptos"/>
                <a:ea typeface="Aptos"/>
                <a:cs typeface="Aptos"/>
              </a:defRPr>
            </a:pPr>
            <a:r>
              <a:rPr sz="1875" b="0">
                <a:solidFill>
                  <a:srgbClr val="52606D"/>
                </a:solidFill>
                <a:latin typeface="Aptos"/>
                <a:ea typeface="Aptos"/>
                <a:cs typeface="Aptos"/>
              </a:rPr>
              <a:t>What should an agent be allowed to claim?</a:t>
            </a:r>
          </a:p>
        </p:txBody>
      </p:sp>
      <p:sp>
        <p:nvSpPr>
          <p:cNvPr id="6" name="">
            <a:extLst xmlns:a="http://schemas.openxmlformats.org/drawingml/2006/main">
              <a:ext uri="{FF2B5EF4-FFF2-40B4-BE49-F238E27FC236}">
                <a16:creationId xmlns:a16="http://schemas.microsoft.com/office/drawing/2014/main" id="{338CC99D-11E1-422A-83E2-884723AA163C}"/>
              </a:ext>
            </a:extLst>
          </p:cNvPr>
          <p:cNvSpPr>
            <a:spLocks xmlns:a="http://schemas.openxmlformats.org/drawingml/2006/main" noGrp="1"/>
          </p:cNvSpPr>
          <p:nvPr/>
        </p:nvSpPr>
        <p:spPr>
          <a:xfrm xmlns:a="http://schemas.openxmlformats.org/drawingml/2006/main">
            <a:off x="8096250" y="1428750"/>
            <a:ext cx="31432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26578058-B2AB-4BB9-8E81-23EADBF13FC8}"/>
              </a:ext>
            </a:extLst>
          </p:cNvPr>
          <p:cNvSpPr>
            <a:spLocks xmlns:a="http://schemas.openxmlformats.org/drawingml/2006/main" noGrp="1"/>
          </p:cNvSpPr>
          <p:nvPr/>
        </p:nvSpPr>
        <p:spPr>
          <a:xfrm xmlns:a="http://schemas.openxmlformats.org/drawingml/2006/main">
            <a:off x="8429625" y="1762125"/>
            <a:ext cx="2476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050" b="1">
                <a:solidFill>
                  <a:srgbClr val="2E74B5"/>
                </a:solidFill>
                <a:latin typeface="Aptos"/>
                <a:ea typeface="Aptos"/>
                <a:cs typeface="Aptos"/>
              </a:defRPr>
            </a:pPr>
            <a:r>
              <a:rPr sz="7050" b="1">
                <a:solidFill>
                  <a:srgbClr val="2E74B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9B1A92D5-08EC-405B-8BBD-53B67C61F700}"/>
              </a:ext>
            </a:extLst>
          </p:cNvPr>
          <p:cNvSpPr>
            <a:spLocks xmlns:a="http://schemas.openxmlformats.org/drawingml/2006/main" noGrp="1"/>
          </p:cNvSpPr>
          <p:nvPr/>
        </p:nvSpPr>
        <p:spPr>
          <a:xfrm xmlns:a="http://schemas.openxmlformats.org/drawingml/2006/main">
            <a:off x="8429625" y="33528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EVIDENCE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CONTRACTS</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STATE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HUMAN AUTHORITY</a:t>
            </a:r>
          </a:p>
        </p:txBody>
      </p:sp>
      <p:sp>
        <p:nvSpPr>
          <p:cNvPr id="9" name="">
            <a:extLst xmlns:a="http://schemas.openxmlformats.org/drawingml/2006/main">
              <a:ext uri="{FF2B5EF4-FFF2-40B4-BE49-F238E27FC236}">
                <a16:creationId xmlns:a16="http://schemas.microsoft.com/office/drawing/2014/main" id="{E0030B0C-2319-452F-8386-C1346D053860}"/>
              </a:ext>
            </a:extLst>
          </p:cNvPr>
          <p:cNvSpPr>
            <a:spLocks xmlns:a="http://schemas.openxmlformats.org/drawingml/2006/main" noGrp="1"/>
          </p:cNvSpPr>
          <p:nvPr/>
        </p:nvSpPr>
        <p:spPr>
          <a:xfrm xmlns:a="http://schemas.openxmlformats.org/drawingml/2006/main">
            <a:off x="495300" y="6096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Young Engineer Training Series</a:t>
            </a:r>
          </a:p>
        </p:txBody>
      </p:sp>
    </p:spTree>
    <p:extLst>
      <p:ext uri="{BB962C8B-B14F-4D97-AF65-F5344CB8AC3E}">
        <p14:creationId xmlns:p14="http://schemas.microsoft.com/office/powerpoint/2010/main" val="188637843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AF232212-6A7D-439F-86E1-6839607F0858}"/>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SESSION 2 OUTCOMES</a:t>
            </a:r>
          </a:p>
        </p:txBody>
      </p:sp>
      <p:sp>
        <p:nvSpPr>
          <p:cNvPr id="2" name="">
            <a:extLst xmlns:a="http://schemas.openxmlformats.org/drawingml/2006/main">
              <a:ext uri="{FF2B5EF4-FFF2-40B4-BE49-F238E27FC236}">
                <a16:creationId xmlns:a16="http://schemas.microsoft.com/office/drawing/2014/main" id="{3E850A03-3E66-460E-849A-F1C09891D43F}"/>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By the end, learners can do three observable things</a:t>
            </a:r>
          </a:p>
        </p:txBody>
      </p:sp>
      <p:sp>
        <p:nvSpPr>
          <p:cNvPr id="3" name="">
            <a:extLst xmlns:a="http://schemas.openxmlformats.org/drawingml/2006/main">
              <a:ext uri="{FF2B5EF4-FFF2-40B4-BE49-F238E27FC236}">
                <a16:creationId xmlns:a16="http://schemas.microsoft.com/office/drawing/2014/main" id="{0425616E-1166-4676-B86F-06634FD790F1}"/>
              </a:ext>
            </a:extLst>
          </p:cNvPr>
          <p:cNvSpPr>
            <a:spLocks xmlns:a="http://schemas.openxmlformats.org/drawingml/2006/main" noGrp="1"/>
          </p:cNvSpPr>
          <p:nvPr/>
        </p:nvSpPr>
        <p:spPr>
          <a:xfrm xmlns:a="http://schemas.openxmlformats.org/drawingml/2006/main">
            <a:off x="400050" y="1952625"/>
            <a:ext cx="6572250" cy="1000125"/>
          </a:xfrm>
          <a:prstGeom xmlns:a="http://schemas.openxmlformats.org/drawingml/2006/main" prst="roundRect">
            <a:avLst>
              <a:gd name="adj" fmla="val 1142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CE234C2B-3BED-4B6A-ABB5-215729F4C1E0}"/>
              </a:ext>
            </a:extLst>
          </p:cNvPr>
          <p:cNvSpPr>
            <a:spLocks xmlns:a="http://schemas.openxmlformats.org/drawingml/2006/main" noGrp="1"/>
          </p:cNvSpPr>
          <p:nvPr/>
        </p:nvSpPr>
        <p:spPr>
          <a:xfrm xmlns:a="http://schemas.openxmlformats.org/drawingml/2006/main">
            <a:off x="628650" y="21717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62E7A9AB-FD93-457C-A7FB-489AF9DC8D6A}"/>
              </a:ext>
            </a:extLst>
          </p:cNvPr>
          <p:cNvSpPr>
            <a:spLocks xmlns:a="http://schemas.openxmlformats.org/drawingml/2006/main" noGrp="1"/>
          </p:cNvSpPr>
          <p:nvPr/>
        </p:nvSpPr>
        <p:spPr>
          <a:xfrm xmlns:a="http://schemas.openxmlformats.org/drawingml/2006/main">
            <a:off x="1428750" y="21145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Separate evidence, assessment, recommendation, and decision</a:t>
            </a:r>
          </a:p>
        </p:txBody>
      </p:sp>
      <p:sp>
        <p:nvSpPr>
          <p:cNvPr id="6" name="">
            <a:extLst xmlns:a="http://schemas.openxmlformats.org/drawingml/2006/main">
              <a:ext uri="{FF2B5EF4-FFF2-40B4-BE49-F238E27FC236}">
                <a16:creationId xmlns:a16="http://schemas.microsoft.com/office/drawing/2014/main" id="{99E53B90-BCD7-427A-BE03-790466D57CDB}"/>
              </a:ext>
            </a:extLst>
          </p:cNvPr>
          <p:cNvSpPr>
            <a:spLocks xmlns:a="http://schemas.openxmlformats.org/drawingml/2006/main" noGrp="1"/>
          </p:cNvSpPr>
          <p:nvPr/>
        </p:nvSpPr>
        <p:spPr>
          <a:xfrm xmlns:a="http://schemas.openxmlformats.org/drawingml/2006/main">
            <a:off x="400050" y="3209925"/>
            <a:ext cx="6572250" cy="1000125"/>
          </a:xfrm>
          <a:prstGeom xmlns:a="http://schemas.openxmlformats.org/drawingml/2006/main" prst="roundRect">
            <a:avLst>
              <a:gd name="adj" fmla="val 11429"/>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F334E683-3194-4A1E-820D-93A1D94B4063}"/>
              </a:ext>
            </a:extLst>
          </p:cNvPr>
          <p:cNvSpPr>
            <a:spLocks xmlns:a="http://schemas.openxmlformats.org/drawingml/2006/main" noGrp="1"/>
          </p:cNvSpPr>
          <p:nvPr/>
        </p:nvSpPr>
        <p:spPr>
          <a:xfrm xmlns:a="http://schemas.openxmlformats.org/drawingml/2006/main">
            <a:off x="628650" y="34290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B271300F-576D-4FDE-8C64-1F8041265854}"/>
              </a:ext>
            </a:extLst>
          </p:cNvPr>
          <p:cNvSpPr>
            <a:spLocks xmlns:a="http://schemas.openxmlformats.org/drawingml/2006/main" noGrp="1"/>
          </p:cNvSpPr>
          <p:nvPr/>
        </p:nvSpPr>
        <p:spPr>
          <a:xfrm xmlns:a="http://schemas.openxmlformats.org/drawingml/2006/main">
            <a:off x="1428750" y="33718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Detect authority leakage</a:t>
            </a:r>
          </a:p>
        </p:txBody>
      </p:sp>
      <p:sp>
        <p:nvSpPr>
          <p:cNvPr id="9" name="">
            <a:extLst xmlns:a="http://schemas.openxmlformats.org/drawingml/2006/main">
              <a:ext uri="{FF2B5EF4-FFF2-40B4-BE49-F238E27FC236}">
                <a16:creationId xmlns:a16="http://schemas.microsoft.com/office/drawing/2014/main" id="{4254439E-713A-4C95-AB89-5DF72F848B48}"/>
              </a:ext>
            </a:extLst>
          </p:cNvPr>
          <p:cNvSpPr>
            <a:spLocks xmlns:a="http://schemas.openxmlformats.org/drawingml/2006/main" noGrp="1"/>
          </p:cNvSpPr>
          <p:nvPr/>
        </p:nvSpPr>
        <p:spPr>
          <a:xfrm xmlns:a="http://schemas.openxmlformats.org/drawingml/2006/main">
            <a:off x="400050" y="4467225"/>
            <a:ext cx="6572250" cy="1000125"/>
          </a:xfrm>
          <a:prstGeom xmlns:a="http://schemas.openxmlformats.org/drawingml/2006/main" prst="roundRect">
            <a:avLst>
              <a:gd name="adj" fmla="val 11429"/>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A561469E-FC4F-49B3-864E-DE11EF304841}"/>
              </a:ext>
            </a:extLst>
          </p:cNvPr>
          <p:cNvSpPr>
            <a:spLocks xmlns:a="http://schemas.openxmlformats.org/drawingml/2006/main" noGrp="1"/>
          </p:cNvSpPr>
          <p:nvPr/>
        </p:nvSpPr>
        <p:spPr>
          <a:xfrm xmlns:a="http://schemas.openxmlformats.org/drawingml/2006/main">
            <a:off x="628650" y="4686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AF4DC64B-2D88-47DE-A449-85ABA0E2CC8B}"/>
              </a:ext>
            </a:extLst>
          </p:cNvPr>
          <p:cNvSpPr>
            <a:spLocks xmlns:a="http://schemas.openxmlformats.org/drawingml/2006/main" noGrp="1"/>
          </p:cNvSpPr>
          <p:nvPr/>
        </p:nvSpPr>
        <p:spPr>
          <a:xfrm xmlns:a="http://schemas.openxmlformats.org/drawingml/2006/main">
            <a:off x="1428750" y="46291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Rewrite claims with calibrated confidence</a:t>
            </a:r>
          </a:p>
        </p:txBody>
      </p:sp>
      <p:sp>
        <p:nvSpPr>
          <p:cNvPr id="12" name="">
            <a:extLst xmlns:a="http://schemas.openxmlformats.org/drawingml/2006/main">
              <a:ext uri="{FF2B5EF4-FFF2-40B4-BE49-F238E27FC236}">
                <a16:creationId xmlns:a16="http://schemas.microsoft.com/office/drawing/2014/main" id="{45DE0DB9-B10F-4B55-BF65-4DFC899AF11D}"/>
              </a:ext>
            </a:extLst>
          </p:cNvPr>
          <p:cNvSpPr>
            <a:spLocks xmlns:a="http://schemas.openxmlformats.org/drawingml/2006/main" noGrp="1"/>
          </p:cNvSpPr>
          <p:nvPr/>
        </p:nvSpPr>
        <p:spPr>
          <a:xfrm xmlns:a="http://schemas.openxmlformats.org/drawingml/2006/main">
            <a:off x="7667625" y="19526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RUN OF SHOW</a:t>
            </a:r>
          </a:p>
        </p:txBody>
      </p:sp>
      <p:sp>
        <p:nvSpPr>
          <p:cNvPr id="13" name="">
            <a:extLst xmlns:a="http://schemas.openxmlformats.org/drawingml/2006/main">
              <a:ext uri="{FF2B5EF4-FFF2-40B4-BE49-F238E27FC236}">
                <a16:creationId xmlns:a16="http://schemas.microsoft.com/office/drawing/2014/main" id="{39B0AF3D-69E5-425A-8702-DF7DDEDD5691}"/>
              </a:ext>
            </a:extLst>
          </p:cNvPr>
          <p:cNvSpPr>
            <a:spLocks xmlns:a="http://schemas.openxmlformats.org/drawingml/2006/main" noGrp="1"/>
          </p:cNvSpPr>
          <p:nvPr/>
        </p:nvSpPr>
        <p:spPr>
          <a:xfrm xmlns:a="http://schemas.openxmlformats.org/drawingml/2006/main">
            <a:off x="7848600" y="25050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4" name="">
            <a:extLst xmlns:a="http://schemas.openxmlformats.org/drawingml/2006/main">
              <a:ext uri="{FF2B5EF4-FFF2-40B4-BE49-F238E27FC236}">
                <a16:creationId xmlns:a16="http://schemas.microsoft.com/office/drawing/2014/main" id="{F6D917A0-3B5D-4FC1-A38E-12A95674AD62}"/>
              </a:ext>
            </a:extLst>
          </p:cNvPr>
          <p:cNvSpPr>
            <a:spLocks xmlns:a="http://schemas.openxmlformats.org/drawingml/2006/main" noGrp="1"/>
          </p:cNvSpPr>
          <p:nvPr/>
        </p:nvSpPr>
        <p:spPr>
          <a:xfrm xmlns:a="http://schemas.openxmlformats.org/drawingml/2006/main">
            <a:off x="7743825" y="2638425"/>
            <a:ext cx="228600" cy="228600"/>
          </a:xfrm>
          <a:prstGeom xmlns:a="http://schemas.openxmlformats.org/drawingml/2006/main" prst="ellipse">
            <a:avLst/>
          </a:prstGeom>
          <a:solidFill xmlns:a="http://schemas.openxmlformats.org/drawingml/2006/main">
            <a:srgbClr val="2E74B5"/>
          </a:solidFill>
          <a:ln xmlns:a="http://schemas.openxmlformats.org/drawingml/2006/main" w="19050">
            <a:solidFill>
              <a:srgbClr val="2E74B5"/>
            </a:solidFill>
            <a:prstDash val="solid"/>
          </a:ln>
        </p:spPr>
      </p:sp>
      <p:sp>
        <p:nvSpPr>
          <p:cNvPr id="15" name="">
            <a:extLst xmlns:a="http://schemas.openxmlformats.org/drawingml/2006/main">
              <a:ext uri="{FF2B5EF4-FFF2-40B4-BE49-F238E27FC236}">
                <a16:creationId xmlns:a16="http://schemas.microsoft.com/office/drawing/2014/main" id="{A61DE823-6509-4160-B899-67BA4431D52B}"/>
              </a:ext>
            </a:extLst>
          </p:cNvPr>
          <p:cNvSpPr>
            <a:spLocks xmlns:a="http://schemas.openxmlformats.org/drawingml/2006/main" noGrp="1"/>
          </p:cNvSpPr>
          <p:nvPr/>
        </p:nvSpPr>
        <p:spPr>
          <a:xfrm xmlns:a="http://schemas.openxmlformats.org/drawingml/2006/main">
            <a:off x="8172450" y="2571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rPr sz="1500" b="1">
                <a:solidFill>
                  <a:srgbClr val="111827"/>
                </a:solidFill>
                <a:latin typeface="Aptos"/>
                <a:ea typeface="Aptos"/>
                <a:cs typeface="Aptos"/>
              </a:rPr>
              <a:t>Mental model</a:t>
            </a:r>
          </a:p>
        </p:txBody>
      </p:sp>
      <p:sp>
        <p:nvSpPr>
          <p:cNvPr id="16" name="">
            <a:extLst xmlns:a="http://schemas.openxmlformats.org/drawingml/2006/main">
              <a:ext uri="{FF2B5EF4-FFF2-40B4-BE49-F238E27FC236}">
                <a16:creationId xmlns:a16="http://schemas.microsoft.com/office/drawing/2014/main" id="{832F8865-E50A-49BE-93FD-C5AB49832E96}"/>
              </a:ext>
            </a:extLst>
          </p:cNvPr>
          <p:cNvSpPr>
            <a:spLocks xmlns:a="http://schemas.openxmlformats.org/drawingml/2006/main" noGrp="1"/>
          </p:cNvSpPr>
          <p:nvPr/>
        </p:nvSpPr>
        <p:spPr>
          <a:xfrm xmlns:a="http://schemas.openxmlformats.org/drawingml/2006/main">
            <a:off x="7848600" y="31908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7D877ADA-2791-4436-ADF9-EC18815E0FC6}"/>
              </a:ext>
            </a:extLst>
          </p:cNvPr>
          <p:cNvSpPr>
            <a:spLocks xmlns:a="http://schemas.openxmlformats.org/drawingml/2006/main" noGrp="1"/>
          </p:cNvSpPr>
          <p:nvPr/>
        </p:nvSpPr>
        <p:spPr>
          <a:xfrm xmlns:a="http://schemas.openxmlformats.org/drawingml/2006/main">
            <a:off x="7743825" y="33242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18" name="">
            <a:extLst xmlns:a="http://schemas.openxmlformats.org/drawingml/2006/main">
              <a:ext uri="{FF2B5EF4-FFF2-40B4-BE49-F238E27FC236}">
                <a16:creationId xmlns:a16="http://schemas.microsoft.com/office/drawing/2014/main" id="{2B731B35-801D-44C1-A195-5701016109A8}"/>
              </a:ext>
            </a:extLst>
          </p:cNvPr>
          <p:cNvSpPr>
            <a:spLocks xmlns:a="http://schemas.openxmlformats.org/drawingml/2006/main" noGrp="1"/>
          </p:cNvSpPr>
          <p:nvPr/>
        </p:nvSpPr>
        <p:spPr>
          <a:xfrm xmlns:a="http://schemas.openxmlformats.org/drawingml/2006/main">
            <a:off x="8172450" y="32575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Worked example</a:t>
            </a:r>
          </a:p>
        </p:txBody>
      </p:sp>
      <p:sp>
        <p:nvSpPr>
          <p:cNvPr id="19" name="">
            <a:extLst xmlns:a="http://schemas.openxmlformats.org/drawingml/2006/main">
              <a:ext uri="{FF2B5EF4-FFF2-40B4-BE49-F238E27FC236}">
                <a16:creationId xmlns:a16="http://schemas.microsoft.com/office/drawing/2014/main" id="{8F5A19AC-3DC3-4BEB-9C81-A38E3692E41C}"/>
              </a:ext>
            </a:extLst>
          </p:cNvPr>
          <p:cNvSpPr>
            <a:spLocks xmlns:a="http://schemas.openxmlformats.org/drawingml/2006/main" noGrp="1"/>
          </p:cNvSpPr>
          <p:nvPr/>
        </p:nvSpPr>
        <p:spPr>
          <a:xfrm xmlns:a="http://schemas.openxmlformats.org/drawingml/2006/main">
            <a:off x="7848600" y="38766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1DD5B9D1-BF4C-41A8-846E-6349BEF6934D}"/>
              </a:ext>
            </a:extLst>
          </p:cNvPr>
          <p:cNvSpPr>
            <a:spLocks xmlns:a="http://schemas.openxmlformats.org/drawingml/2006/main" noGrp="1"/>
          </p:cNvSpPr>
          <p:nvPr/>
        </p:nvSpPr>
        <p:spPr>
          <a:xfrm xmlns:a="http://schemas.openxmlformats.org/drawingml/2006/main">
            <a:off x="7743825" y="40100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1" name="">
            <a:extLst xmlns:a="http://schemas.openxmlformats.org/drawingml/2006/main">
              <a:ext uri="{FF2B5EF4-FFF2-40B4-BE49-F238E27FC236}">
                <a16:creationId xmlns:a16="http://schemas.microsoft.com/office/drawing/2014/main" id="{2871C455-C308-4D5E-8838-A39DF3798DD9}"/>
              </a:ext>
            </a:extLst>
          </p:cNvPr>
          <p:cNvSpPr>
            <a:spLocks xmlns:a="http://schemas.openxmlformats.org/drawingml/2006/main" noGrp="1"/>
          </p:cNvSpPr>
          <p:nvPr/>
        </p:nvSpPr>
        <p:spPr>
          <a:xfrm xmlns:a="http://schemas.openxmlformats.org/drawingml/2006/main">
            <a:off x="8172450" y="39433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Guided lab</a:t>
            </a:r>
          </a:p>
        </p:txBody>
      </p:sp>
      <p:sp>
        <p:nvSpPr>
          <p:cNvPr id="22" name="">
            <a:extLst xmlns:a="http://schemas.openxmlformats.org/drawingml/2006/main">
              <a:ext uri="{FF2B5EF4-FFF2-40B4-BE49-F238E27FC236}">
                <a16:creationId xmlns:a16="http://schemas.microsoft.com/office/drawing/2014/main" id="{CE31F043-4178-49D7-968A-7F71FCFA52DB}"/>
              </a:ext>
            </a:extLst>
          </p:cNvPr>
          <p:cNvSpPr>
            <a:spLocks xmlns:a="http://schemas.openxmlformats.org/drawingml/2006/main" noGrp="1"/>
          </p:cNvSpPr>
          <p:nvPr/>
        </p:nvSpPr>
        <p:spPr>
          <a:xfrm xmlns:a="http://schemas.openxmlformats.org/drawingml/2006/main">
            <a:off x="7848600" y="45624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759F8AA5-FE9B-48C8-BDFD-38AC5946401F}"/>
              </a:ext>
            </a:extLst>
          </p:cNvPr>
          <p:cNvSpPr>
            <a:spLocks xmlns:a="http://schemas.openxmlformats.org/drawingml/2006/main" noGrp="1"/>
          </p:cNvSpPr>
          <p:nvPr/>
        </p:nvSpPr>
        <p:spPr>
          <a:xfrm xmlns:a="http://schemas.openxmlformats.org/drawingml/2006/main">
            <a:off x="7743825" y="46958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4" name="">
            <a:extLst xmlns:a="http://schemas.openxmlformats.org/drawingml/2006/main">
              <a:ext uri="{FF2B5EF4-FFF2-40B4-BE49-F238E27FC236}">
                <a16:creationId xmlns:a16="http://schemas.microsoft.com/office/drawing/2014/main" id="{E8ECE760-3916-42B0-9269-D547F630365F}"/>
              </a:ext>
            </a:extLst>
          </p:cNvPr>
          <p:cNvSpPr>
            <a:spLocks xmlns:a="http://schemas.openxmlformats.org/drawingml/2006/main" noGrp="1"/>
          </p:cNvSpPr>
          <p:nvPr/>
        </p:nvSpPr>
        <p:spPr>
          <a:xfrm xmlns:a="http://schemas.openxmlformats.org/drawingml/2006/main">
            <a:off x="8172450" y="46291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Prompt lab</a:t>
            </a:r>
          </a:p>
        </p:txBody>
      </p:sp>
      <p:sp>
        <p:nvSpPr>
          <p:cNvPr id="25" name="">
            <a:extLst xmlns:a="http://schemas.openxmlformats.org/drawingml/2006/main">
              <a:ext uri="{FF2B5EF4-FFF2-40B4-BE49-F238E27FC236}">
                <a16:creationId xmlns:a16="http://schemas.microsoft.com/office/drawing/2014/main" id="{E4DA00C4-10E3-4DE4-8AE0-160D2B64B42C}"/>
              </a:ext>
            </a:extLst>
          </p:cNvPr>
          <p:cNvSpPr>
            <a:spLocks xmlns:a="http://schemas.openxmlformats.org/drawingml/2006/main" noGrp="1"/>
          </p:cNvSpPr>
          <p:nvPr/>
        </p:nvSpPr>
        <p:spPr>
          <a:xfrm xmlns:a="http://schemas.openxmlformats.org/drawingml/2006/main">
            <a:off x="7848600" y="5248275"/>
            <a:ext cx="28575" cy="4953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6" name="">
            <a:extLst xmlns:a="http://schemas.openxmlformats.org/drawingml/2006/main">
              <a:ext uri="{FF2B5EF4-FFF2-40B4-BE49-F238E27FC236}">
                <a16:creationId xmlns:a16="http://schemas.microsoft.com/office/drawing/2014/main" id="{FF5F403A-7BBF-4771-93EE-34B114FA69FE}"/>
              </a:ext>
            </a:extLst>
          </p:cNvPr>
          <p:cNvSpPr>
            <a:spLocks xmlns:a="http://schemas.openxmlformats.org/drawingml/2006/main" noGrp="1"/>
          </p:cNvSpPr>
          <p:nvPr/>
        </p:nvSpPr>
        <p:spPr>
          <a:xfrm xmlns:a="http://schemas.openxmlformats.org/drawingml/2006/main">
            <a:off x="7743825" y="53816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7" name="">
            <a:extLst xmlns:a="http://schemas.openxmlformats.org/drawingml/2006/main">
              <a:ext uri="{FF2B5EF4-FFF2-40B4-BE49-F238E27FC236}">
                <a16:creationId xmlns:a16="http://schemas.microsoft.com/office/drawing/2014/main" id="{872BBF4A-4800-465F-84FC-55CC689B227A}"/>
              </a:ext>
            </a:extLst>
          </p:cNvPr>
          <p:cNvSpPr>
            <a:spLocks xmlns:a="http://schemas.openxmlformats.org/drawingml/2006/main" noGrp="1"/>
          </p:cNvSpPr>
          <p:nvPr/>
        </p:nvSpPr>
        <p:spPr>
          <a:xfrm xmlns:a="http://schemas.openxmlformats.org/drawingml/2006/main">
            <a:off x="8172450" y="53149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Exit ticket</a:t>
            </a:r>
          </a:p>
        </p:txBody>
      </p:sp>
      <p:sp>
        <p:nvSpPr>
          <p:cNvPr id="28" name="">
            <a:extLst xmlns:a="http://schemas.openxmlformats.org/drawingml/2006/main">
              <a:ext uri="{FF2B5EF4-FFF2-40B4-BE49-F238E27FC236}">
                <a16:creationId xmlns:a16="http://schemas.microsoft.com/office/drawing/2014/main" id="{BFB9E319-E186-4D0A-BB8C-19EA80C01CA3}"/>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9" name="">
            <a:extLst xmlns:a="http://schemas.openxmlformats.org/drawingml/2006/main">
              <a:ext uri="{FF2B5EF4-FFF2-40B4-BE49-F238E27FC236}">
                <a16:creationId xmlns:a16="http://schemas.microsoft.com/office/drawing/2014/main" id="{914F036D-C44F-44B0-AA70-EFD647ACFE30}"/>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02  •  CODE REVIEW HARNESS</a:t>
            </a:r>
          </a:p>
        </p:txBody>
      </p:sp>
      <p:sp>
        <p:nvSpPr>
          <p:cNvPr id="30" name="">
            <a:extLst xmlns:a="http://schemas.openxmlformats.org/drawingml/2006/main">
              <a:ext uri="{FF2B5EF4-FFF2-40B4-BE49-F238E27FC236}">
                <a16:creationId xmlns:a16="http://schemas.microsoft.com/office/drawing/2014/main" id="{DFB42FE5-8EF4-4D04-8419-7DCE30E3C6A3}"/>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02</a:t>
            </a:r>
          </a:p>
        </p:txBody>
      </p:sp>
    </p:spTree>
    <p:extLst>
      <p:ext uri="{BB962C8B-B14F-4D97-AF65-F5344CB8AC3E}">
        <p14:creationId xmlns:p14="http://schemas.microsoft.com/office/powerpoint/2010/main" val="124901703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85D79CD-B64B-4FDF-8C9F-7CEDBEF3AB10}"/>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MENTAL MODEL</a:t>
            </a:r>
          </a:p>
        </p:txBody>
      </p:sp>
      <p:sp>
        <p:nvSpPr>
          <p:cNvPr id="2" name="">
            <a:extLst xmlns:a="http://schemas.openxmlformats.org/drawingml/2006/main">
              <a:ext uri="{FF2B5EF4-FFF2-40B4-BE49-F238E27FC236}">
                <a16:creationId xmlns:a16="http://schemas.microsoft.com/office/drawing/2014/main" id="{7B553BD3-B7B4-49CD-89F4-2B43C92E5AB1}"/>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One system, four distinct ideas</a:t>
            </a:r>
          </a:p>
        </p:txBody>
      </p:sp>
      <p:sp>
        <p:nvSpPr>
          <p:cNvPr id="3" name="">
            <a:extLst xmlns:a="http://schemas.openxmlformats.org/drawingml/2006/main">
              <a:ext uri="{FF2B5EF4-FFF2-40B4-BE49-F238E27FC236}">
                <a16:creationId xmlns:a16="http://schemas.microsoft.com/office/drawing/2014/main" id="{5A648635-F22B-4F6E-ABB8-B5B0C51F5890}"/>
              </a:ext>
            </a:extLst>
          </p:cNvPr>
          <p:cNvSpPr>
            <a:spLocks xmlns:a="http://schemas.openxmlformats.org/drawingml/2006/main" noGrp="1"/>
          </p:cNvSpPr>
          <p:nvPr/>
        </p:nvSpPr>
        <p:spPr>
          <a:xfrm xmlns:a="http://schemas.openxmlformats.org/drawingml/2006/main">
            <a:off x="400050" y="1952625"/>
            <a:ext cx="5381625" cy="1571625"/>
          </a:xfrm>
          <a:prstGeom xmlns:a="http://schemas.openxmlformats.org/drawingml/2006/main" prst="roundRect">
            <a:avLst>
              <a:gd name="adj" fmla="val 9697"/>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5AA6626B-5CB0-4EB0-A2CD-4A6FB7F2CF58}"/>
              </a:ext>
            </a:extLst>
          </p:cNvPr>
          <p:cNvSpPr>
            <a:spLocks xmlns:a="http://schemas.openxmlformats.org/drawingml/2006/main" noGrp="1"/>
          </p:cNvSpPr>
          <p:nvPr/>
        </p:nvSpPr>
        <p:spPr>
          <a:xfrm xmlns:a="http://schemas.openxmlformats.org/drawingml/2006/main">
            <a:off x="66675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EVIDENCE</a:t>
            </a:r>
          </a:p>
        </p:txBody>
      </p:sp>
      <p:sp>
        <p:nvSpPr>
          <p:cNvPr id="5" name="">
            <a:extLst xmlns:a="http://schemas.openxmlformats.org/drawingml/2006/main">
              <a:ext uri="{FF2B5EF4-FFF2-40B4-BE49-F238E27FC236}">
                <a16:creationId xmlns:a16="http://schemas.microsoft.com/office/drawing/2014/main" id="{1B530693-5FEF-4B8B-A1FB-D81E7ECE365F}"/>
              </a:ext>
            </a:extLst>
          </p:cNvPr>
          <p:cNvSpPr>
            <a:spLocks xmlns:a="http://schemas.openxmlformats.org/drawingml/2006/main" noGrp="1"/>
          </p:cNvSpPr>
          <p:nvPr/>
        </p:nvSpPr>
        <p:spPr>
          <a:xfrm xmlns:a="http://schemas.openxmlformats.org/drawingml/2006/main">
            <a:off x="66675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Observable source</a:t>
            </a:r>
          </a:p>
        </p:txBody>
      </p:sp>
      <p:sp>
        <p:nvSpPr>
          <p:cNvPr id="6" name="">
            <a:extLst xmlns:a="http://schemas.openxmlformats.org/drawingml/2006/main">
              <a:ext uri="{FF2B5EF4-FFF2-40B4-BE49-F238E27FC236}">
                <a16:creationId xmlns:a16="http://schemas.microsoft.com/office/drawing/2014/main" id="{2020714F-27A7-4D0B-91CE-6E4FD465C412}"/>
              </a:ext>
            </a:extLst>
          </p:cNvPr>
          <p:cNvSpPr>
            <a:spLocks xmlns:a="http://schemas.openxmlformats.org/drawingml/2006/main" noGrp="1"/>
          </p:cNvSpPr>
          <p:nvPr/>
        </p:nvSpPr>
        <p:spPr>
          <a:xfrm xmlns:a="http://schemas.openxmlformats.org/drawingml/2006/main">
            <a:off x="6172200" y="1952625"/>
            <a:ext cx="5381625" cy="1571625"/>
          </a:xfrm>
          <a:prstGeom xmlns:a="http://schemas.openxmlformats.org/drawingml/2006/main" prst="roundRect">
            <a:avLst>
              <a:gd name="adj" fmla="val 9697"/>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F84E9C53-0756-43CE-A745-E5C17D7FD2DA}"/>
              </a:ext>
            </a:extLst>
          </p:cNvPr>
          <p:cNvSpPr>
            <a:spLocks xmlns:a="http://schemas.openxmlformats.org/drawingml/2006/main" noGrp="1"/>
          </p:cNvSpPr>
          <p:nvPr/>
        </p:nvSpPr>
        <p:spPr>
          <a:xfrm xmlns:a="http://schemas.openxmlformats.org/drawingml/2006/main">
            <a:off x="643890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ASSESSMENT</a:t>
            </a:r>
          </a:p>
        </p:txBody>
      </p:sp>
      <p:sp>
        <p:nvSpPr>
          <p:cNvPr id="8" name="">
            <a:extLst xmlns:a="http://schemas.openxmlformats.org/drawingml/2006/main">
              <a:ext uri="{FF2B5EF4-FFF2-40B4-BE49-F238E27FC236}">
                <a16:creationId xmlns:a16="http://schemas.microsoft.com/office/drawing/2014/main" id="{800D2294-6128-4A53-AE0D-1389AC7252F2}"/>
              </a:ext>
            </a:extLst>
          </p:cNvPr>
          <p:cNvSpPr>
            <a:spLocks xmlns:a="http://schemas.openxmlformats.org/drawingml/2006/main" noGrp="1"/>
          </p:cNvSpPr>
          <p:nvPr/>
        </p:nvSpPr>
        <p:spPr>
          <a:xfrm xmlns:a="http://schemas.openxmlformats.org/drawingml/2006/main">
            <a:off x="643890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Bounded interpretation</a:t>
            </a:r>
          </a:p>
        </p:txBody>
      </p:sp>
      <p:sp>
        <p:nvSpPr>
          <p:cNvPr id="9" name="">
            <a:extLst xmlns:a="http://schemas.openxmlformats.org/drawingml/2006/main">
              <a:ext uri="{FF2B5EF4-FFF2-40B4-BE49-F238E27FC236}">
                <a16:creationId xmlns:a16="http://schemas.microsoft.com/office/drawing/2014/main" id="{A0707C87-A617-47F8-8A15-3103F49A94F8}"/>
              </a:ext>
            </a:extLst>
          </p:cNvPr>
          <p:cNvSpPr>
            <a:spLocks xmlns:a="http://schemas.openxmlformats.org/drawingml/2006/main" noGrp="1"/>
          </p:cNvSpPr>
          <p:nvPr/>
        </p:nvSpPr>
        <p:spPr>
          <a:xfrm xmlns:a="http://schemas.openxmlformats.org/drawingml/2006/main">
            <a:off x="400050" y="4000500"/>
            <a:ext cx="5381625" cy="1571625"/>
          </a:xfrm>
          <a:prstGeom xmlns:a="http://schemas.openxmlformats.org/drawingml/2006/main" prst="roundRect">
            <a:avLst>
              <a:gd name="adj" fmla="val 9697"/>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D817CFB1-B5D6-4DA9-BDA3-62CE4D31A0A5}"/>
              </a:ext>
            </a:extLst>
          </p:cNvPr>
          <p:cNvSpPr>
            <a:spLocks xmlns:a="http://schemas.openxmlformats.org/drawingml/2006/main" noGrp="1"/>
          </p:cNvSpPr>
          <p:nvPr/>
        </p:nvSpPr>
        <p:spPr>
          <a:xfrm xmlns:a="http://schemas.openxmlformats.org/drawingml/2006/main">
            <a:off x="66675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RECOMMENDATION</a:t>
            </a:r>
          </a:p>
        </p:txBody>
      </p:sp>
      <p:sp>
        <p:nvSpPr>
          <p:cNvPr id="11" name="">
            <a:extLst xmlns:a="http://schemas.openxmlformats.org/drawingml/2006/main">
              <a:ext uri="{FF2B5EF4-FFF2-40B4-BE49-F238E27FC236}">
                <a16:creationId xmlns:a16="http://schemas.microsoft.com/office/drawing/2014/main" id="{49374422-98AA-44E4-95BB-BDD5B0F27493}"/>
              </a:ext>
            </a:extLst>
          </p:cNvPr>
          <p:cNvSpPr>
            <a:spLocks xmlns:a="http://schemas.openxmlformats.org/drawingml/2006/main" noGrp="1"/>
          </p:cNvSpPr>
          <p:nvPr/>
        </p:nvSpPr>
        <p:spPr>
          <a:xfrm xmlns:a="http://schemas.openxmlformats.org/drawingml/2006/main">
            <a:off x="66675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Option for consideration</a:t>
            </a:r>
          </a:p>
        </p:txBody>
      </p:sp>
      <p:sp>
        <p:nvSpPr>
          <p:cNvPr id="12" name="">
            <a:extLst xmlns:a="http://schemas.openxmlformats.org/drawingml/2006/main">
              <a:ext uri="{FF2B5EF4-FFF2-40B4-BE49-F238E27FC236}">
                <a16:creationId xmlns:a16="http://schemas.microsoft.com/office/drawing/2014/main" id="{7EBC6740-F81B-4006-B0E4-4931BED50E86}"/>
              </a:ext>
            </a:extLst>
          </p:cNvPr>
          <p:cNvSpPr>
            <a:spLocks xmlns:a="http://schemas.openxmlformats.org/drawingml/2006/main" noGrp="1"/>
          </p:cNvSpPr>
          <p:nvPr/>
        </p:nvSpPr>
        <p:spPr>
          <a:xfrm xmlns:a="http://schemas.openxmlformats.org/drawingml/2006/main">
            <a:off x="6172200" y="4000500"/>
            <a:ext cx="5381625" cy="1571625"/>
          </a:xfrm>
          <a:prstGeom xmlns:a="http://schemas.openxmlformats.org/drawingml/2006/main" prst="roundRect">
            <a:avLst>
              <a:gd name="adj" fmla="val 9697"/>
            </a:avLst>
          </a:prstGeom>
          <a:solidFill xmlns:a="http://schemas.openxmlformats.org/drawingml/2006/main">
            <a:srgbClr val="FBEAEC"/>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4B5F9552-C967-4987-949C-B22BB1A80C98}"/>
              </a:ext>
            </a:extLst>
          </p:cNvPr>
          <p:cNvSpPr>
            <a:spLocks xmlns:a="http://schemas.openxmlformats.org/drawingml/2006/main" noGrp="1"/>
          </p:cNvSpPr>
          <p:nvPr/>
        </p:nvSpPr>
        <p:spPr>
          <a:xfrm xmlns:a="http://schemas.openxmlformats.org/drawingml/2006/main">
            <a:off x="643890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DECISION</a:t>
            </a:r>
          </a:p>
        </p:txBody>
      </p:sp>
      <p:sp>
        <p:nvSpPr>
          <p:cNvPr id="14" name="">
            <a:extLst xmlns:a="http://schemas.openxmlformats.org/drawingml/2006/main">
              <a:ext uri="{FF2B5EF4-FFF2-40B4-BE49-F238E27FC236}">
                <a16:creationId xmlns:a16="http://schemas.microsoft.com/office/drawing/2014/main" id="{304F5E65-5216-4926-AEF3-6384F80EDD9F}"/>
              </a:ext>
            </a:extLst>
          </p:cNvPr>
          <p:cNvSpPr>
            <a:spLocks xmlns:a="http://schemas.openxmlformats.org/drawingml/2006/main" noGrp="1"/>
          </p:cNvSpPr>
          <p:nvPr/>
        </p:nvSpPr>
        <p:spPr>
          <a:xfrm xmlns:a="http://schemas.openxmlformats.org/drawingml/2006/main">
            <a:off x="643890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Human-owned action</a:t>
            </a:r>
          </a:p>
        </p:txBody>
      </p:sp>
      <p:sp>
        <p:nvSpPr>
          <p:cNvPr id="15" name="">
            <a:extLst xmlns:a="http://schemas.openxmlformats.org/drawingml/2006/main">
              <a:ext uri="{FF2B5EF4-FFF2-40B4-BE49-F238E27FC236}">
                <a16:creationId xmlns:a16="http://schemas.microsoft.com/office/drawing/2014/main" id="{5CDD0483-DB0B-4EFB-AF2F-2E41012E223D}"/>
              </a:ext>
            </a:extLst>
          </p:cNvPr>
          <p:cNvSpPr>
            <a:spLocks xmlns:a="http://schemas.openxmlformats.org/drawingml/2006/main" noGrp="1"/>
          </p:cNvSpPr>
          <p:nvPr/>
        </p:nvSpPr>
        <p:spPr>
          <a:xfrm xmlns:a="http://schemas.openxmlformats.org/drawingml/2006/main">
            <a:off x="5857875" y="2552700"/>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6" name="">
            <a:extLst xmlns:a="http://schemas.openxmlformats.org/drawingml/2006/main">
              <a:ext uri="{FF2B5EF4-FFF2-40B4-BE49-F238E27FC236}">
                <a16:creationId xmlns:a16="http://schemas.microsoft.com/office/drawing/2014/main" id="{6B956360-8D9A-4E2C-B4EC-D91AF82075B4}"/>
              </a:ext>
            </a:extLst>
          </p:cNvPr>
          <p:cNvSpPr>
            <a:spLocks xmlns:a="http://schemas.openxmlformats.org/drawingml/2006/main" noGrp="1"/>
          </p:cNvSpPr>
          <p:nvPr/>
        </p:nvSpPr>
        <p:spPr>
          <a:xfrm xmlns:a="http://schemas.openxmlformats.org/drawingml/2006/main">
            <a:off x="5857875" y="4600575"/>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4DE47082-4F1B-4B1A-A92F-C7CA0164CFDC}"/>
              </a:ext>
            </a:extLst>
          </p:cNvPr>
          <p:cNvSpPr>
            <a:spLocks xmlns:a="http://schemas.openxmlformats.org/drawingml/2006/main" noGrp="1"/>
          </p:cNvSpPr>
          <p:nvPr/>
        </p:nvSpPr>
        <p:spPr>
          <a:xfrm xmlns:a="http://schemas.openxmlformats.org/drawingml/2006/main">
            <a:off x="300037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C95F416C-D5AE-4B81-A3E5-DD7B4A120ED7}"/>
              </a:ext>
            </a:extLst>
          </p:cNvPr>
          <p:cNvSpPr>
            <a:spLocks xmlns:a="http://schemas.openxmlformats.org/drawingml/2006/main" noGrp="1"/>
          </p:cNvSpPr>
          <p:nvPr/>
        </p:nvSpPr>
        <p:spPr>
          <a:xfrm xmlns:a="http://schemas.openxmlformats.org/drawingml/2006/main">
            <a:off x="877252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9" name="">
            <a:extLst xmlns:a="http://schemas.openxmlformats.org/drawingml/2006/main">
              <a:ext uri="{FF2B5EF4-FFF2-40B4-BE49-F238E27FC236}">
                <a16:creationId xmlns:a16="http://schemas.microsoft.com/office/drawing/2014/main" id="{41BC242B-C1E1-4799-A43A-BACC1EAB2E93}"/>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70B7F14E-1DDA-4920-8FF9-731115F7E95D}"/>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02  •  CODE REVIEW HARNESS</a:t>
            </a:r>
          </a:p>
        </p:txBody>
      </p:sp>
      <p:sp>
        <p:nvSpPr>
          <p:cNvPr id="21" name="">
            <a:extLst xmlns:a="http://schemas.openxmlformats.org/drawingml/2006/main">
              <a:ext uri="{FF2B5EF4-FFF2-40B4-BE49-F238E27FC236}">
                <a16:creationId xmlns:a16="http://schemas.microsoft.com/office/drawing/2014/main" id="{713EAD3E-C3A1-4FC6-88C3-00BDA823901C}"/>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03</a:t>
            </a:r>
          </a:p>
        </p:txBody>
      </p:sp>
    </p:spTree>
    <p:extLst>
      <p:ext uri="{BB962C8B-B14F-4D97-AF65-F5344CB8AC3E}">
        <p14:creationId xmlns:p14="http://schemas.microsoft.com/office/powerpoint/2010/main" val="195369641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B404C37-C28E-4361-9906-4A123B226DF2}"/>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WORKED EXAMPLE</a:t>
            </a:r>
          </a:p>
        </p:txBody>
      </p:sp>
      <p:sp>
        <p:nvSpPr>
          <p:cNvPr id="2" name="">
            <a:extLst xmlns:a="http://schemas.openxmlformats.org/drawingml/2006/main">
              <a:ext uri="{FF2B5EF4-FFF2-40B4-BE49-F238E27FC236}">
                <a16:creationId xmlns:a16="http://schemas.microsoft.com/office/drawing/2014/main" id="{E869B8D4-B830-41D1-9284-2740A41C2B66}"/>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A trustworthy result is a chain—not a clever paragraph</a:t>
            </a:r>
          </a:p>
        </p:txBody>
      </p:sp>
      <p:sp>
        <p:nvSpPr>
          <p:cNvPr id="3" name="">
            <a:extLst xmlns:a="http://schemas.openxmlformats.org/drawingml/2006/main">
              <a:ext uri="{FF2B5EF4-FFF2-40B4-BE49-F238E27FC236}">
                <a16:creationId xmlns:a16="http://schemas.microsoft.com/office/drawing/2014/main" id="{FB3C0BEA-5ADD-41D9-922D-9FF72757D092}"/>
              </a:ext>
            </a:extLst>
          </p:cNvPr>
          <p:cNvSpPr>
            <a:spLocks xmlns:a="http://schemas.openxmlformats.org/drawingml/2006/main" noGrp="1"/>
          </p:cNvSpPr>
          <p:nvPr/>
        </p:nvSpPr>
        <p:spPr>
          <a:xfrm xmlns:a="http://schemas.openxmlformats.org/drawingml/2006/main">
            <a:off x="40005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3426051E-855B-43A5-9131-C9467D4238DB}"/>
              </a:ext>
            </a:extLst>
          </p:cNvPr>
          <p:cNvSpPr>
            <a:spLocks xmlns:a="http://schemas.openxmlformats.org/drawingml/2006/main" noGrp="1"/>
          </p:cNvSpPr>
          <p:nvPr/>
        </p:nvSpPr>
        <p:spPr>
          <a:xfrm xmlns:a="http://schemas.openxmlformats.org/drawingml/2006/main">
            <a:off x="5715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2934133E-2CB3-4944-95BB-4C97994A14E3}"/>
              </a:ext>
            </a:extLst>
          </p:cNvPr>
          <p:cNvSpPr>
            <a:spLocks xmlns:a="http://schemas.openxmlformats.org/drawingml/2006/main" noGrp="1"/>
          </p:cNvSpPr>
          <p:nvPr/>
        </p:nvSpPr>
        <p:spPr>
          <a:xfrm xmlns:a="http://schemas.openxmlformats.org/drawingml/2006/main">
            <a:off x="5905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Observed behavior</a:t>
            </a:r>
          </a:p>
        </p:txBody>
      </p:sp>
      <p:sp>
        <p:nvSpPr>
          <p:cNvPr id="6" name="">
            <a:extLst xmlns:a="http://schemas.openxmlformats.org/drawingml/2006/main">
              <a:ext uri="{FF2B5EF4-FFF2-40B4-BE49-F238E27FC236}">
                <a16:creationId xmlns:a16="http://schemas.microsoft.com/office/drawing/2014/main" id="{886B9D48-6A85-42AE-A844-3E11F7ECA0F4}"/>
              </a:ext>
            </a:extLst>
          </p:cNvPr>
          <p:cNvSpPr>
            <a:spLocks xmlns:a="http://schemas.openxmlformats.org/drawingml/2006/main" noGrp="1"/>
          </p:cNvSpPr>
          <p:nvPr/>
        </p:nvSpPr>
        <p:spPr>
          <a:xfrm xmlns:a="http://schemas.openxmlformats.org/drawingml/2006/main">
            <a:off x="243840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7" name="">
            <a:extLst xmlns:a="http://schemas.openxmlformats.org/drawingml/2006/main">
              <a:ext uri="{FF2B5EF4-FFF2-40B4-BE49-F238E27FC236}">
                <a16:creationId xmlns:a16="http://schemas.microsoft.com/office/drawing/2014/main" id="{02A16A29-2F04-4F86-BBD4-3699CA3EEE1F}"/>
              </a:ext>
            </a:extLst>
          </p:cNvPr>
          <p:cNvSpPr>
            <a:spLocks xmlns:a="http://schemas.openxmlformats.org/drawingml/2006/main" noGrp="1"/>
          </p:cNvSpPr>
          <p:nvPr/>
        </p:nvSpPr>
        <p:spPr>
          <a:xfrm xmlns:a="http://schemas.openxmlformats.org/drawingml/2006/main">
            <a:off x="261937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244AC0BB-0379-47D8-832A-417FAEAB4747}"/>
              </a:ext>
            </a:extLst>
          </p:cNvPr>
          <p:cNvSpPr>
            <a:spLocks xmlns:a="http://schemas.openxmlformats.org/drawingml/2006/main" noGrp="1"/>
          </p:cNvSpPr>
          <p:nvPr/>
        </p:nvSpPr>
        <p:spPr>
          <a:xfrm xmlns:a="http://schemas.openxmlformats.org/drawingml/2006/main">
            <a:off x="275272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B6F3EEED-F2F4-45D7-AA5C-0A15BAA68EF5}"/>
              </a:ext>
            </a:extLst>
          </p:cNvPr>
          <p:cNvSpPr>
            <a:spLocks xmlns:a="http://schemas.openxmlformats.org/drawingml/2006/main" noGrp="1"/>
          </p:cNvSpPr>
          <p:nvPr/>
        </p:nvSpPr>
        <p:spPr>
          <a:xfrm xmlns:a="http://schemas.openxmlformats.org/drawingml/2006/main">
            <a:off x="292417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C38D4171-A6CF-4307-B4D0-24DBE726DA90}"/>
              </a:ext>
            </a:extLst>
          </p:cNvPr>
          <p:cNvSpPr>
            <a:spLocks xmlns:a="http://schemas.openxmlformats.org/drawingml/2006/main" noGrp="1"/>
          </p:cNvSpPr>
          <p:nvPr/>
        </p:nvSpPr>
        <p:spPr>
          <a:xfrm xmlns:a="http://schemas.openxmlformats.org/drawingml/2006/main">
            <a:off x="294322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Evidence ID</a:t>
            </a:r>
          </a:p>
        </p:txBody>
      </p:sp>
      <p:sp>
        <p:nvSpPr>
          <p:cNvPr id="11" name="">
            <a:extLst xmlns:a="http://schemas.openxmlformats.org/drawingml/2006/main">
              <a:ext uri="{FF2B5EF4-FFF2-40B4-BE49-F238E27FC236}">
                <a16:creationId xmlns:a16="http://schemas.microsoft.com/office/drawing/2014/main" id="{F6C09AD3-411C-46B1-9323-DFED69FBE57C}"/>
              </a:ext>
            </a:extLst>
          </p:cNvPr>
          <p:cNvSpPr>
            <a:spLocks xmlns:a="http://schemas.openxmlformats.org/drawingml/2006/main" noGrp="1"/>
          </p:cNvSpPr>
          <p:nvPr/>
        </p:nvSpPr>
        <p:spPr>
          <a:xfrm xmlns:a="http://schemas.openxmlformats.org/drawingml/2006/main">
            <a:off x="479107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2" name="">
            <a:extLst xmlns:a="http://schemas.openxmlformats.org/drawingml/2006/main">
              <a:ext uri="{FF2B5EF4-FFF2-40B4-BE49-F238E27FC236}">
                <a16:creationId xmlns:a16="http://schemas.microsoft.com/office/drawing/2014/main" id="{28DDA8C6-8B38-4BFC-8C82-2DAE33A947F6}"/>
              </a:ext>
            </a:extLst>
          </p:cNvPr>
          <p:cNvSpPr>
            <a:spLocks xmlns:a="http://schemas.openxmlformats.org/drawingml/2006/main" noGrp="1"/>
          </p:cNvSpPr>
          <p:nvPr/>
        </p:nvSpPr>
        <p:spPr>
          <a:xfrm xmlns:a="http://schemas.openxmlformats.org/drawingml/2006/main">
            <a:off x="497205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3" name="">
            <a:extLst xmlns:a="http://schemas.openxmlformats.org/drawingml/2006/main">
              <a:ext uri="{FF2B5EF4-FFF2-40B4-BE49-F238E27FC236}">
                <a16:creationId xmlns:a16="http://schemas.microsoft.com/office/drawing/2014/main" id="{4B9AA5F3-F910-4433-847C-E0ECDC2A336E}"/>
              </a:ext>
            </a:extLst>
          </p:cNvPr>
          <p:cNvSpPr>
            <a:spLocks xmlns:a="http://schemas.openxmlformats.org/drawingml/2006/main" noGrp="1"/>
          </p:cNvSpPr>
          <p:nvPr/>
        </p:nvSpPr>
        <p:spPr>
          <a:xfrm xmlns:a="http://schemas.openxmlformats.org/drawingml/2006/main">
            <a:off x="510540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38109742-A225-4B16-9933-3E01DD494294}"/>
              </a:ext>
            </a:extLst>
          </p:cNvPr>
          <p:cNvSpPr>
            <a:spLocks xmlns:a="http://schemas.openxmlformats.org/drawingml/2006/main" noGrp="1"/>
          </p:cNvSpPr>
          <p:nvPr/>
        </p:nvSpPr>
        <p:spPr>
          <a:xfrm xmlns:a="http://schemas.openxmlformats.org/drawingml/2006/main">
            <a:off x="527685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EAD11F6B-376E-4E0D-9585-8CFCF8534DF7}"/>
              </a:ext>
            </a:extLst>
          </p:cNvPr>
          <p:cNvSpPr>
            <a:spLocks xmlns:a="http://schemas.openxmlformats.org/drawingml/2006/main" noGrp="1"/>
          </p:cNvSpPr>
          <p:nvPr/>
        </p:nvSpPr>
        <p:spPr>
          <a:xfrm xmlns:a="http://schemas.openxmlformats.org/drawingml/2006/main">
            <a:off x="529590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Assessment</a:t>
            </a:r>
          </a:p>
        </p:txBody>
      </p:sp>
      <p:sp>
        <p:nvSpPr>
          <p:cNvPr id="16" name="">
            <a:extLst xmlns:a="http://schemas.openxmlformats.org/drawingml/2006/main">
              <a:ext uri="{FF2B5EF4-FFF2-40B4-BE49-F238E27FC236}">
                <a16:creationId xmlns:a16="http://schemas.microsoft.com/office/drawing/2014/main" id="{CCEDA351-789D-445A-B02C-3E0E4321C475}"/>
              </a:ext>
            </a:extLst>
          </p:cNvPr>
          <p:cNvSpPr>
            <a:spLocks xmlns:a="http://schemas.openxmlformats.org/drawingml/2006/main" noGrp="1"/>
          </p:cNvSpPr>
          <p:nvPr/>
        </p:nvSpPr>
        <p:spPr>
          <a:xfrm xmlns:a="http://schemas.openxmlformats.org/drawingml/2006/main">
            <a:off x="714375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912F0A0E-8339-4C22-8BB4-181E0B63F275}"/>
              </a:ext>
            </a:extLst>
          </p:cNvPr>
          <p:cNvSpPr>
            <a:spLocks xmlns:a="http://schemas.openxmlformats.org/drawingml/2006/main" noGrp="1"/>
          </p:cNvSpPr>
          <p:nvPr/>
        </p:nvSpPr>
        <p:spPr>
          <a:xfrm xmlns:a="http://schemas.openxmlformats.org/drawingml/2006/main">
            <a:off x="732472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265DC369-96E9-4C42-AE63-49B30B7ED028}"/>
              </a:ext>
            </a:extLst>
          </p:cNvPr>
          <p:cNvSpPr>
            <a:spLocks xmlns:a="http://schemas.openxmlformats.org/drawingml/2006/main" noGrp="1"/>
          </p:cNvSpPr>
          <p:nvPr/>
        </p:nvSpPr>
        <p:spPr>
          <a:xfrm xmlns:a="http://schemas.openxmlformats.org/drawingml/2006/main">
            <a:off x="745807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CECC5287-8570-448D-9A20-D7BED73760C7}"/>
              </a:ext>
            </a:extLst>
          </p:cNvPr>
          <p:cNvSpPr>
            <a:spLocks xmlns:a="http://schemas.openxmlformats.org/drawingml/2006/main" noGrp="1"/>
          </p:cNvSpPr>
          <p:nvPr/>
        </p:nvSpPr>
        <p:spPr>
          <a:xfrm xmlns:a="http://schemas.openxmlformats.org/drawingml/2006/main">
            <a:off x="762952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E39C49C6-67F5-4C3E-AAD3-66CE1A29F3D0}"/>
              </a:ext>
            </a:extLst>
          </p:cNvPr>
          <p:cNvSpPr>
            <a:spLocks xmlns:a="http://schemas.openxmlformats.org/drawingml/2006/main" noGrp="1"/>
          </p:cNvSpPr>
          <p:nvPr/>
        </p:nvSpPr>
        <p:spPr>
          <a:xfrm xmlns:a="http://schemas.openxmlformats.org/drawingml/2006/main">
            <a:off x="764857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Recommendation</a:t>
            </a:r>
          </a:p>
        </p:txBody>
      </p:sp>
      <p:sp>
        <p:nvSpPr>
          <p:cNvPr id="21" name="">
            <a:extLst xmlns:a="http://schemas.openxmlformats.org/drawingml/2006/main">
              <a:ext uri="{FF2B5EF4-FFF2-40B4-BE49-F238E27FC236}">
                <a16:creationId xmlns:a16="http://schemas.microsoft.com/office/drawing/2014/main" id="{8B376E10-1FC5-47E6-B071-B95F1AD2B4A0}"/>
              </a:ext>
            </a:extLst>
          </p:cNvPr>
          <p:cNvSpPr>
            <a:spLocks xmlns:a="http://schemas.openxmlformats.org/drawingml/2006/main" noGrp="1"/>
          </p:cNvSpPr>
          <p:nvPr/>
        </p:nvSpPr>
        <p:spPr>
          <a:xfrm xmlns:a="http://schemas.openxmlformats.org/drawingml/2006/main">
            <a:off x="949642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2" name="">
            <a:extLst xmlns:a="http://schemas.openxmlformats.org/drawingml/2006/main">
              <a:ext uri="{FF2B5EF4-FFF2-40B4-BE49-F238E27FC236}">
                <a16:creationId xmlns:a16="http://schemas.microsoft.com/office/drawing/2014/main" id="{209792DC-EB8F-4965-8F38-76AC034C6180}"/>
              </a:ext>
            </a:extLst>
          </p:cNvPr>
          <p:cNvSpPr>
            <a:spLocks xmlns:a="http://schemas.openxmlformats.org/drawingml/2006/main" noGrp="1"/>
          </p:cNvSpPr>
          <p:nvPr/>
        </p:nvSpPr>
        <p:spPr>
          <a:xfrm xmlns:a="http://schemas.openxmlformats.org/drawingml/2006/main">
            <a:off x="967740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23" name="">
            <a:extLst xmlns:a="http://schemas.openxmlformats.org/drawingml/2006/main">
              <a:ext uri="{FF2B5EF4-FFF2-40B4-BE49-F238E27FC236}">
                <a16:creationId xmlns:a16="http://schemas.microsoft.com/office/drawing/2014/main" id="{969F49DD-3C2F-4EE7-9D64-60627E1FD726}"/>
              </a:ext>
            </a:extLst>
          </p:cNvPr>
          <p:cNvSpPr>
            <a:spLocks xmlns:a="http://schemas.openxmlformats.org/drawingml/2006/main" noGrp="1"/>
          </p:cNvSpPr>
          <p:nvPr/>
        </p:nvSpPr>
        <p:spPr>
          <a:xfrm xmlns:a="http://schemas.openxmlformats.org/drawingml/2006/main">
            <a:off x="9810750" y="2476500"/>
            <a:ext cx="198120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5F79B060-042A-4212-B59C-D55A71D35E16}"/>
              </a:ext>
            </a:extLst>
          </p:cNvPr>
          <p:cNvSpPr>
            <a:spLocks xmlns:a="http://schemas.openxmlformats.org/drawingml/2006/main" noGrp="1"/>
          </p:cNvSpPr>
          <p:nvPr/>
        </p:nvSpPr>
        <p:spPr>
          <a:xfrm xmlns:a="http://schemas.openxmlformats.org/drawingml/2006/main">
            <a:off x="99822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0B3E2BC0-C328-459D-9A4D-5C03AAE40781}"/>
              </a:ext>
            </a:extLst>
          </p:cNvPr>
          <p:cNvSpPr>
            <a:spLocks xmlns:a="http://schemas.openxmlformats.org/drawingml/2006/main" noGrp="1"/>
          </p:cNvSpPr>
          <p:nvPr/>
        </p:nvSpPr>
        <p:spPr>
          <a:xfrm xmlns:a="http://schemas.openxmlformats.org/drawingml/2006/main">
            <a:off x="100012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Decision request</a:t>
            </a:r>
          </a:p>
        </p:txBody>
      </p:sp>
      <p:sp>
        <p:nvSpPr>
          <p:cNvPr id="26" name="">
            <a:extLst xmlns:a="http://schemas.openxmlformats.org/drawingml/2006/main">
              <a:ext uri="{FF2B5EF4-FFF2-40B4-BE49-F238E27FC236}">
                <a16:creationId xmlns:a16="http://schemas.microsoft.com/office/drawing/2014/main" id="{03624E68-928B-4074-BFEB-65FCFABC13B0}"/>
              </a:ext>
            </a:extLst>
          </p:cNvPr>
          <p:cNvSpPr>
            <a:spLocks xmlns:a="http://schemas.openxmlformats.org/drawingml/2006/main" noGrp="1"/>
          </p:cNvSpPr>
          <p:nvPr/>
        </p:nvSpPr>
        <p:spPr>
          <a:xfrm xmlns:a="http://schemas.openxmlformats.org/drawingml/2006/main">
            <a:off x="952500" y="46291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F4D78"/>
                </a:solidFill>
                <a:latin typeface="Aptos"/>
                <a:ea typeface="Aptos"/>
                <a:cs typeface="Aptos"/>
              </a:defRPr>
            </a:pPr>
            <a:r>
              <a:rPr sz="1575" b="1">
                <a:solidFill>
                  <a:srgbClr val="1F4D78"/>
                </a:solidFill>
                <a:latin typeface="Aptos"/>
                <a:ea typeface="Aptos"/>
                <a:cs typeface="Aptos"/>
              </a:rPr>
              <a:t>At every handoff: preserve identity, provenance, coverage, confidence, and consumer intent.</a:t>
            </a:r>
          </a:p>
        </p:txBody>
      </p:sp>
      <p:sp>
        <p:nvSpPr>
          <p:cNvPr id="27" name="">
            <a:extLst xmlns:a="http://schemas.openxmlformats.org/drawingml/2006/main">
              <a:ext uri="{FF2B5EF4-FFF2-40B4-BE49-F238E27FC236}">
                <a16:creationId xmlns:a16="http://schemas.microsoft.com/office/drawing/2014/main" id="{382E76ED-4DBE-4087-8E60-29D089143753}"/>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8" name="">
            <a:extLst xmlns:a="http://schemas.openxmlformats.org/drawingml/2006/main">
              <a:ext uri="{FF2B5EF4-FFF2-40B4-BE49-F238E27FC236}">
                <a16:creationId xmlns:a16="http://schemas.microsoft.com/office/drawing/2014/main" id="{213ED2AE-955E-4278-B243-E4ED14E8F426}"/>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02  •  CODE REVIEW HARNESS</a:t>
            </a:r>
          </a:p>
        </p:txBody>
      </p:sp>
      <p:sp>
        <p:nvSpPr>
          <p:cNvPr id="29" name="">
            <a:extLst xmlns:a="http://schemas.openxmlformats.org/drawingml/2006/main">
              <a:ext uri="{FF2B5EF4-FFF2-40B4-BE49-F238E27FC236}">
                <a16:creationId xmlns:a16="http://schemas.microsoft.com/office/drawing/2014/main" id="{495F93D8-E381-4E84-AE24-6898BC6A4D33}"/>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04</a:t>
            </a:r>
          </a:p>
        </p:txBody>
      </p:sp>
    </p:spTree>
    <p:extLst>
      <p:ext uri="{BB962C8B-B14F-4D97-AF65-F5344CB8AC3E}">
        <p14:creationId xmlns:p14="http://schemas.microsoft.com/office/powerpoint/2010/main" val="115890379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448F72A-B851-4DD6-98B1-286004E51A24}"/>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GUIDED TEAM LAB</a:t>
            </a:r>
          </a:p>
        </p:txBody>
      </p:sp>
      <p:sp>
        <p:nvSpPr>
          <p:cNvPr id="2" name="">
            <a:extLst xmlns:a="http://schemas.openxmlformats.org/drawingml/2006/main">
              <a:ext uri="{FF2B5EF4-FFF2-40B4-BE49-F238E27FC236}">
                <a16:creationId xmlns:a16="http://schemas.microsoft.com/office/drawing/2014/main" id="{97FCDAC8-BADE-4C0F-8D7B-557347E29206}"/>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Build an artifact the room can inspect</a:t>
            </a:r>
          </a:p>
        </p:txBody>
      </p:sp>
      <p:sp>
        <p:nvSpPr>
          <p:cNvPr id="3" name="">
            <a:extLst xmlns:a="http://schemas.openxmlformats.org/drawingml/2006/main">
              <a:ext uri="{FF2B5EF4-FFF2-40B4-BE49-F238E27FC236}">
                <a16:creationId xmlns:a16="http://schemas.microsoft.com/office/drawing/2014/main" id="{C37C65C6-43D9-44BC-897A-564D76F39154}"/>
              </a:ext>
            </a:extLst>
          </p:cNvPr>
          <p:cNvSpPr>
            <a:spLocks xmlns:a="http://schemas.openxmlformats.org/drawingml/2006/main" noGrp="1"/>
          </p:cNvSpPr>
          <p:nvPr/>
        </p:nvSpPr>
        <p:spPr>
          <a:xfrm xmlns:a="http://schemas.openxmlformats.org/drawingml/2006/main">
            <a:off x="400050" y="1809750"/>
            <a:ext cx="11391900" cy="1714500"/>
          </a:xfrm>
          <a:prstGeom xmlns:a="http://schemas.openxmlformats.org/drawingml/2006/main" prst="roundRect">
            <a:avLst>
              <a:gd name="adj" fmla="val 888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B5FC6950-15CE-4F84-B224-FE328C096D4F}"/>
              </a:ext>
            </a:extLst>
          </p:cNvPr>
          <p:cNvSpPr>
            <a:spLocks xmlns:a="http://schemas.openxmlformats.org/drawingml/2006/main" noGrp="1"/>
          </p:cNvSpPr>
          <p:nvPr/>
        </p:nvSpPr>
        <p:spPr>
          <a:xfrm xmlns:a="http://schemas.openxmlformats.org/drawingml/2006/main">
            <a:off x="723900" y="2095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TEAM TASK</a:t>
            </a:r>
          </a:p>
        </p:txBody>
      </p:sp>
      <p:sp>
        <p:nvSpPr>
          <p:cNvPr id="5" name="">
            <a:extLst xmlns:a="http://schemas.openxmlformats.org/drawingml/2006/main">
              <a:ext uri="{FF2B5EF4-FFF2-40B4-BE49-F238E27FC236}">
                <a16:creationId xmlns:a16="http://schemas.microsoft.com/office/drawing/2014/main" id="{E1B7CB2B-7FF3-4EEC-A77E-2DDB795640D4}"/>
              </a:ext>
            </a:extLst>
          </p:cNvPr>
          <p:cNvSpPr>
            <a:spLocks xmlns:a="http://schemas.openxmlformats.org/drawingml/2006/main" noGrp="1"/>
          </p:cNvSpPr>
          <p:nvPr/>
        </p:nvSpPr>
        <p:spPr>
          <a:xfrm xmlns:a="http://schemas.openxmlformats.org/drawingml/2006/main">
            <a:off x="723900" y="252412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rPr sz="2025" b="1">
                <a:solidFill>
                  <a:srgbClr val="111827"/>
                </a:solidFill>
                <a:latin typeface="Aptos"/>
                <a:ea typeface="Aptos"/>
                <a:cs typeface="Aptos"/>
              </a:rPr>
              <a:t>Sort ten statements by epistemic type and repair the overclaims.</a:t>
            </a:r>
          </a:p>
        </p:txBody>
      </p:sp>
      <p:sp>
        <p:nvSpPr>
          <p:cNvPr id="6" name="">
            <a:extLst xmlns:a="http://schemas.openxmlformats.org/drawingml/2006/main">
              <a:ext uri="{FF2B5EF4-FFF2-40B4-BE49-F238E27FC236}">
                <a16:creationId xmlns:a16="http://schemas.microsoft.com/office/drawing/2014/main" id="{8B15A9AC-84B9-4AFB-987C-04E21BB356C1}"/>
              </a:ext>
            </a:extLst>
          </p:cNvPr>
          <p:cNvSpPr>
            <a:spLocks xmlns:a="http://schemas.openxmlformats.org/drawingml/2006/main" noGrp="1"/>
          </p:cNvSpPr>
          <p:nvPr/>
        </p:nvSpPr>
        <p:spPr>
          <a:xfrm xmlns:a="http://schemas.openxmlformats.org/drawingml/2006/main">
            <a:off x="400050" y="3905250"/>
            <a:ext cx="356235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A7C26F9C-58BA-453A-9231-934C719BF21D}"/>
              </a:ext>
            </a:extLst>
          </p:cNvPr>
          <p:cNvSpPr>
            <a:spLocks xmlns:a="http://schemas.openxmlformats.org/drawingml/2006/main" noGrp="1"/>
          </p:cNvSpPr>
          <p:nvPr/>
        </p:nvSpPr>
        <p:spPr>
          <a:xfrm xmlns:a="http://schemas.openxmlformats.org/drawingml/2006/main">
            <a:off x="62865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23A52C2C-BE98-4C4F-9381-49FCF337F6D1}"/>
              </a:ext>
            </a:extLst>
          </p:cNvPr>
          <p:cNvSpPr>
            <a:spLocks xmlns:a="http://schemas.openxmlformats.org/drawingml/2006/main" noGrp="1"/>
          </p:cNvSpPr>
          <p:nvPr/>
        </p:nvSpPr>
        <p:spPr>
          <a:xfrm xmlns:a="http://schemas.openxmlformats.org/drawingml/2006/main">
            <a:off x="62865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Classify</a:t>
            </a:r>
          </a:p>
        </p:txBody>
      </p:sp>
      <p:sp>
        <p:nvSpPr>
          <p:cNvPr id="9" name="">
            <a:extLst xmlns:a="http://schemas.openxmlformats.org/drawingml/2006/main">
              <a:ext uri="{FF2B5EF4-FFF2-40B4-BE49-F238E27FC236}">
                <a16:creationId xmlns:a16="http://schemas.microsoft.com/office/drawing/2014/main" id="{D50B6879-9647-4082-AAAC-13691FA180FF}"/>
              </a:ext>
            </a:extLst>
          </p:cNvPr>
          <p:cNvSpPr>
            <a:spLocks xmlns:a="http://schemas.openxmlformats.org/drawingml/2006/main" noGrp="1"/>
          </p:cNvSpPr>
          <p:nvPr/>
        </p:nvSpPr>
        <p:spPr>
          <a:xfrm xmlns:a="http://schemas.openxmlformats.org/drawingml/2006/main">
            <a:off x="4314825" y="3905250"/>
            <a:ext cx="3562350" cy="1571625"/>
          </a:xfrm>
          <a:prstGeom xmlns:a="http://schemas.openxmlformats.org/drawingml/2006/main" prst="roundRect">
            <a:avLst>
              <a:gd name="adj" fmla="val 7273"/>
            </a:avLst>
          </a:prstGeom>
          <a:solidFill xmlns:a="http://schemas.openxmlformats.org/drawingml/2006/main">
            <a:srgbClr val="EAF5EE"/>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B8CA3962-A81B-4381-895C-D2B9F607DEA6}"/>
              </a:ext>
            </a:extLst>
          </p:cNvPr>
          <p:cNvSpPr>
            <a:spLocks xmlns:a="http://schemas.openxmlformats.org/drawingml/2006/main" noGrp="1"/>
          </p:cNvSpPr>
          <p:nvPr/>
        </p:nvSpPr>
        <p:spPr>
          <a:xfrm xmlns:a="http://schemas.openxmlformats.org/drawingml/2006/main">
            <a:off x="4543425"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B5974027-E853-4569-B1A3-FB905C43EA61}"/>
              </a:ext>
            </a:extLst>
          </p:cNvPr>
          <p:cNvSpPr>
            <a:spLocks xmlns:a="http://schemas.openxmlformats.org/drawingml/2006/main" noGrp="1"/>
          </p:cNvSpPr>
          <p:nvPr/>
        </p:nvSpPr>
        <p:spPr>
          <a:xfrm xmlns:a="http://schemas.openxmlformats.org/drawingml/2006/main">
            <a:off x="4543425"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Cite evidence</a:t>
            </a:r>
          </a:p>
        </p:txBody>
      </p:sp>
      <p:sp>
        <p:nvSpPr>
          <p:cNvPr id="12" name="">
            <a:extLst xmlns:a="http://schemas.openxmlformats.org/drawingml/2006/main">
              <a:ext uri="{FF2B5EF4-FFF2-40B4-BE49-F238E27FC236}">
                <a16:creationId xmlns:a16="http://schemas.microsoft.com/office/drawing/2014/main" id="{5BBD08BB-E58A-4A65-9354-F1F9A9754B08}"/>
              </a:ext>
            </a:extLst>
          </p:cNvPr>
          <p:cNvSpPr>
            <a:spLocks xmlns:a="http://schemas.openxmlformats.org/drawingml/2006/main" noGrp="1"/>
          </p:cNvSpPr>
          <p:nvPr/>
        </p:nvSpPr>
        <p:spPr>
          <a:xfrm xmlns:a="http://schemas.openxmlformats.org/drawingml/2006/main">
            <a:off x="8229600" y="3905250"/>
            <a:ext cx="356235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80B46E06-D9A3-49C0-AC4A-EBDBC2DB4E5D}"/>
              </a:ext>
            </a:extLst>
          </p:cNvPr>
          <p:cNvSpPr>
            <a:spLocks xmlns:a="http://schemas.openxmlformats.org/drawingml/2006/main" noGrp="1"/>
          </p:cNvSpPr>
          <p:nvPr/>
        </p:nvSpPr>
        <p:spPr>
          <a:xfrm xmlns:a="http://schemas.openxmlformats.org/drawingml/2006/main">
            <a:off x="845820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DCB3501A-52D8-4505-B3B2-0B966A2954CD}"/>
              </a:ext>
            </a:extLst>
          </p:cNvPr>
          <p:cNvSpPr>
            <a:spLocks xmlns:a="http://schemas.openxmlformats.org/drawingml/2006/main" noGrp="1"/>
          </p:cNvSpPr>
          <p:nvPr/>
        </p:nvSpPr>
        <p:spPr>
          <a:xfrm xmlns:a="http://schemas.openxmlformats.org/drawingml/2006/main">
            <a:off x="845820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Restore authority</a:t>
            </a:r>
          </a:p>
        </p:txBody>
      </p:sp>
      <p:sp>
        <p:nvSpPr>
          <p:cNvPr id="15" name="">
            <a:extLst xmlns:a="http://schemas.openxmlformats.org/drawingml/2006/main">
              <a:ext uri="{FF2B5EF4-FFF2-40B4-BE49-F238E27FC236}">
                <a16:creationId xmlns:a16="http://schemas.microsoft.com/office/drawing/2014/main" id="{1D5930D1-483C-456F-A171-ADFC51060D9B}"/>
              </a:ext>
            </a:extLst>
          </p:cNvPr>
          <p:cNvSpPr>
            <a:spLocks xmlns:a="http://schemas.openxmlformats.org/drawingml/2006/main" noGrp="1"/>
          </p:cNvSpPr>
          <p:nvPr/>
        </p:nvSpPr>
        <p:spPr>
          <a:xfrm xmlns:a="http://schemas.openxmlformats.org/drawingml/2006/main">
            <a:off x="400050" y="58674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Suggested timing: 5 min brief • 20 min work • 10 min critique • 5 min repair</a:t>
            </a:r>
          </a:p>
        </p:txBody>
      </p:sp>
      <p:sp>
        <p:nvSpPr>
          <p:cNvPr id="16" name="">
            <a:extLst xmlns:a="http://schemas.openxmlformats.org/drawingml/2006/main">
              <a:ext uri="{FF2B5EF4-FFF2-40B4-BE49-F238E27FC236}">
                <a16:creationId xmlns:a16="http://schemas.microsoft.com/office/drawing/2014/main" id="{C4852E1A-A767-44FA-B91A-B822EF99CC6A}"/>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DCA44213-2A01-49E0-8CDD-04BE1F385BF1}"/>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02  •  CODE REVIEW HARNESS</a:t>
            </a:r>
          </a:p>
        </p:txBody>
      </p:sp>
      <p:sp>
        <p:nvSpPr>
          <p:cNvPr id="18" name="">
            <a:extLst xmlns:a="http://schemas.openxmlformats.org/drawingml/2006/main">
              <a:ext uri="{FF2B5EF4-FFF2-40B4-BE49-F238E27FC236}">
                <a16:creationId xmlns:a16="http://schemas.microsoft.com/office/drawing/2014/main" id="{BC7194FF-3083-4F71-847C-E58BCAB2B249}"/>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05</a:t>
            </a:r>
          </a:p>
        </p:txBody>
      </p:sp>
    </p:spTree>
    <p:extLst>
      <p:ext uri="{BB962C8B-B14F-4D97-AF65-F5344CB8AC3E}">
        <p14:creationId xmlns:p14="http://schemas.microsoft.com/office/powerpoint/2010/main" val="110208355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DC794A7-7F26-49AA-B7A3-0327CA88A57A}"/>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PROMPT ENGINEERING LAB</a:t>
            </a:r>
          </a:p>
        </p:txBody>
      </p:sp>
      <p:sp>
        <p:nvSpPr>
          <p:cNvPr id="2" name="">
            <a:extLst xmlns:a="http://schemas.openxmlformats.org/drawingml/2006/main">
              <a:ext uri="{FF2B5EF4-FFF2-40B4-BE49-F238E27FC236}">
                <a16:creationId xmlns:a16="http://schemas.microsoft.com/office/drawing/2014/main" id="{5B6903F5-1058-495E-8057-A00714B55ABF}"/>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Turn the contract into executable prompt behavior</a:t>
            </a:r>
          </a:p>
        </p:txBody>
      </p:sp>
      <p:sp>
        <p:nvSpPr>
          <p:cNvPr id="3" name="">
            <a:extLst xmlns:a="http://schemas.openxmlformats.org/drawingml/2006/main">
              <a:ext uri="{FF2B5EF4-FFF2-40B4-BE49-F238E27FC236}">
                <a16:creationId xmlns:a16="http://schemas.microsoft.com/office/drawing/2014/main" id="{EC7D2E5B-49E7-43DE-BB24-E8D0D94AC6A6}"/>
              </a:ext>
            </a:extLst>
          </p:cNvPr>
          <p:cNvSpPr>
            <a:spLocks xmlns:a="http://schemas.openxmlformats.org/drawingml/2006/main" noGrp="1"/>
          </p:cNvSpPr>
          <p:nvPr/>
        </p:nvSpPr>
        <p:spPr>
          <a:xfrm xmlns:a="http://schemas.openxmlformats.org/drawingml/2006/main">
            <a:off x="400050" y="1666875"/>
            <a:ext cx="11391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827"/>
                </a:solidFill>
                <a:latin typeface="Aptos"/>
                <a:ea typeface="Aptos"/>
                <a:cs typeface="Aptos"/>
              </a:defRPr>
            </a:pPr>
            <a:r>
              <a:rPr sz="1875" b="1">
                <a:solidFill>
                  <a:srgbClr val="111827"/>
                </a:solidFill>
                <a:latin typeface="Aptos"/>
                <a:ea typeface="Aptos"/>
                <a:cs typeface="Aptos"/>
              </a:rPr>
              <a:t>Add authority language that prevents approval, waiver, or risk acceptance.</a:t>
            </a:r>
          </a:p>
        </p:txBody>
      </p:sp>
      <p:sp>
        <p:nvSpPr>
          <p:cNvPr id="4" name="">
            <a:extLst xmlns:a="http://schemas.openxmlformats.org/drawingml/2006/main">
              <a:ext uri="{FF2B5EF4-FFF2-40B4-BE49-F238E27FC236}">
                <a16:creationId xmlns:a16="http://schemas.microsoft.com/office/drawing/2014/main" id="{FE2B22E4-B9D7-4300-9D8E-7D54587F6E2D}"/>
              </a:ext>
            </a:extLst>
          </p:cNvPr>
          <p:cNvSpPr>
            <a:spLocks xmlns:a="http://schemas.openxmlformats.org/drawingml/2006/main" noGrp="1"/>
          </p:cNvSpPr>
          <p:nvPr/>
        </p:nvSpPr>
        <p:spPr>
          <a:xfrm xmlns:a="http://schemas.openxmlformats.org/drawingml/2006/main">
            <a:off x="400050" y="2667000"/>
            <a:ext cx="3562350" cy="1095375"/>
          </a:xfrm>
          <a:prstGeom xmlns:a="http://schemas.openxmlformats.org/drawingml/2006/main" prst="roundRect">
            <a:avLst>
              <a:gd name="adj" fmla="val 10435"/>
            </a:avLst>
          </a:prstGeom>
          <a:solidFill xmlns:a="http://schemas.openxmlformats.org/drawingml/2006/main">
            <a:srgbClr val="EAF5FB"/>
          </a:solidFill>
          <a:ln xmlns:a="http://schemas.openxmlformats.org/drawingml/2006/main" w="9525">
            <a:solidFill>
              <a:srgbClr val="CBD5E1"/>
            </a:solidFill>
            <a:prstDash val="solid"/>
          </a:ln>
        </p:spPr>
      </p:sp>
      <p:sp>
        <p:nvSpPr>
          <p:cNvPr id="5" name="">
            <a:extLst xmlns:a="http://schemas.openxmlformats.org/drawingml/2006/main">
              <a:ext uri="{FF2B5EF4-FFF2-40B4-BE49-F238E27FC236}">
                <a16:creationId xmlns:a16="http://schemas.microsoft.com/office/drawing/2014/main" id="{48F95C11-3AAF-43E5-9E1B-3496B0465B48}"/>
              </a:ext>
            </a:extLst>
          </p:cNvPr>
          <p:cNvSpPr>
            <a:spLocks xmlns:a="http://schemas.openxmlformats.org/drawingml/2006/main" noGrp="1"/>
          </p:cNvSpPr>
          <p:nvPr/>
        </p:nvSpPr>
        <p:spPr>
          <a:xfrm xmlns:a="http://schemas.openxmlformats.org/drawingml/2006/main">
            <a:off x="60960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AEBA0EEC-EA97-4C4C-BC4A-FD0EEABD56D9}"/>
              </a:ext>
            </a:extLst>
          </p:cNvPr>
          <p:cNvSpPr>
            <a:spLocks xmlns:a="http://schemas.openxmlformats.org/drawingml/2006/main" noGrp="1"/>
          </p:cNvSpPr>
          <p:nvPr/>
        </p:nvSpPr>
        <p:spPr>
          <a:xfrm xmlns:a="http://schemas.openxmlformats.org/drawingml/2006/main">
            <a:off x="110490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May observe</a:t>
            </a:r>
          </a:p>
        </p:txBody>
      </p:sp>
      <p:sp>
        <p:nvSpPr>
          <p:cNvPr id="7" name="">
            <a:extLst xmlns:a="http://schemas.openxmlformats.org/drawingml/2006/main">
              <a:ext uri="{FF2B5EF4-FFF2-40B4-BE49-F238E27FC236}">
                <a16:creationId xmlns:a16="http://schemas.microsoft.com/office/drawing/2014/main" id="{7427B203-96AF-4D44-894F-415EAD879601}"/>
              </a:ext>
            </a:extLst>
          </p:cNvPr>
          <p:cNvSpPr>
            <a:spLocks xmlns:a="http://schemas.openxmlformats.org/drawingml/2006/main" noGrp="1"/>
          </p:cNvSpPr>
          <p:nvPr/>
        </p:nvSpPr>
        <p:spPr>
          <a:xfrm xmlns:a="http://schemas.openxmlformats.org/drawingml/2006/main">
            <a:off x="4314825" y="2667000"/>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EABFC505-72DE-441C-8A7B-D199E26862F2}"/>
              </a:ext>
            </a:extLst>
          </p:cNvPr>
          <p:cNvSpPr>
            <a:spLocks xmlns:a="http://schemas.openxmlformats.org/drawingml/2006/main" noGrp="1"/>
          </p:cNvSpPr>
          <p:nvPr/>
        </p:nvSpPr>
        <p:spPr>
          <a:xfrm xmlns:a="http://schemas.openxmlformats.org/drawingml/2006/main">
            <a:off x="4524375"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2A28C475-B3AF-44DF-9A10-4A67DB88AB85}"/>
              </a:ext>
            </a:extLst>
          </p:cNvPr>
          <p:cNvSpPr>
            <a:spLocks xmlns:a="http://schemas.openxmlformats.org/drawingml/2006/main" noGrp="1"/>
          </p:cNvSpPr>
          <p:nvPr/>
        </p:nvSpPr>
        <p:spPr>
          <a:xfrm xmlns:a="http://schemas.openxmlformats.org/drawingml/2006/main">
            <a:off x="5019675"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May assess</a:t>
            </a:r>
          </a:p>
        </p:txBody>
      </p:sp>
      <p:sp>
        <p:nvSpPr>
          <p:cNvPr id="10" name="">
            <a:extLst xmlns:a="http://schemas.openxmlformats.org/drawingml/2006/main">
              <a:ext uri="{FF2B5EF4-FFF2-40B4-BE49-F238E27FC236}">
                <a16:creationId xmlns:a16="http://schemas.microsoft.com/office/drawing/2014/main" id="{459CBDBF-B829-4661-AA60-FBFC16998E4E}"/>
              </a:ext>
            </a:extLst>
          </p:cNvPr>
          <p:cNvSpPr>
            <a:spLocks xmlns:a="http://schemas.openxmlformats.org/drawingml/2006/main" noGrp="1"/>
          </p:cNvSpPr>
          <p:nvPr/>
        </p:nvSpPr>
        <p:spPr>
          <a:xfrm xmlns:a="http://schemas.openxmlformats.org/drawingml/2006/main">
            <a:off x="8229600" y="2667000"/>
            <a:ext cx="3562350" cy="1095375"/>
          </a:xfrm>
          <a:prstGeom xmlns:a="http://schemas.openxmlformats.org/drawingml/2006/main" prst="roundRect">
            <a:avLst>
              <a:gd name="adj" fmla="val 10435"/>
            </a:avLst>
          </a:prstGeom>
          <a:solidFill xmlns:a="http://schemas.openxmlformats.org/drawingml/2006/main">
            <a:srgbClr val="EAF5EE"/>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FB21C3AA-A45B-4466-955F-9A1E3D7A9200}"/>
              </a:ext>
            </a:extLst>
          </p:cNvPr>
          <p:cNvSpPr>
            <a:spLocks xmlns:a="http://schemas.openxmlformats.org/drawingml/2006/main" noGrp="1"/>
          </p:cNvSpPr>
          <p:nvPr/>
        </p:nvSpPr>
        <p:spPr>
          <a:xfrm xmlns:a="http://schemas.openxmlformats.org/drawingml/2006/main">
            <a:off x="843915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B19F2C59-3148-46B8-B4C2-4001C2310065}"/>
              </a:ext>
            </a:extLst>
          </p:cNvPr>
          <p:cNvSpPr>
            <a:spLocks xmlns:a="http://schemas.openxmlformats.org/drawingml/2006/main" noGrp="1"/>
          </p:cNvSpPr>
          <p:nvPr/>
        </p:nvSpPr>
        <p:spPr>
          <a:xfrm xmlns:a="http://schemas.openxmlformats.org/drawingml/2006/main">
            <a:off x="893445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May recommend</a:t>
            </a:r>
          </a:p>
        </p:txBody>
      </p:sp>
      <p:sp>
        <p:nvSpPr>
          <p:cNvPr id="13" name="">
            <a:extLst xmlns:a="http://schemas.openxmlformats.org/drawingml/2006/main">
              <a:ext uri="{FF2B5EF4-FFF2-40B4-BE49-F238E27FC236}">
                <a16:creationId xmlns:a16="http://schemas.microsoft.com/office/drawing/2014/main" id="{21AAA991-C0BF-4DA4-9ED6-3F873ECF3E4F}"/>
              </a:ext>
            </a:extLst>
          </p:cNvPr>
          <p:cNvSpPr>
            <a:spLocks xmlns:a="http://schemas.openxmlformats.org/drawingml/2006/main" noGrp="1"/>
          </p:cNvSpPr>
          <p:nvPr/>
        </p:nvSpPr>
        <p:spPr>
          <a:xfrm xmlns:a="http://schemas.openxmlformats.org/drawingml/2006/main">
            <a:off x="400050" y="4048125"/>
            <a:ext cx="3562350" cy="1095375"/>
          </a:xfrm>
          <a:prstGeom xmlns:a="http://schemas.openxmlformats.org/drawingml/2006/main" prst="roundRect">
            <a:avLst>
              <a:gd name="adj" fmla="val 10435"/>
            </a:avLst>
          </a:prstGeom>
          <a:solidFill xmlns:a="http://schemas.openxmlformats.org/drawingml/2006/main">
            <a:srgbClr val="FFF4D6"/>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826B84FE-855C-4695-9402-FA3CDD68FE65}"/>
              </a:ext>
            </a:extLst>
          </p:cNvPr>
          <p:cNvSpPr>
            <a:spLocks xmlns:a="http://schemas.openxmlformats.org/drawingml/2006/main" noGrp="1"/>
          </p:cNvSpPr>
          <p:nvPr/>
        </p:nvSpPr>
        <p:spPr>
          <a:xfrm xmlns:a="http://schemas.openxmlformats.org/drawingml/2006/main">
            <a:off x="60960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C88A4CEB-0550-4589-8B54-5C2632192BB4}"/>
              </a:ext>
            </a:extLst>
          </p:cNvPr>
          <p:cNvSpPr>
            <a:spLocks xmlns:a="http://schemas.openxmlformats.org/drawingml/2006/main" noGrp="1"/>
          </p:cNvSpPr>
          <p:nvPr/>
        </p:nvSpPr>
        <p:spPr>
          <a:xfrm xmlns:a="http://schemas.openxmlformats.org/drawingml/2006/main">
            <a:off x="110490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Must request</a:t>
            </a:r>
          </a:p>
        </p:txBody>
      </p:sp>
      <p:sp>
        <p:nvSpPr>
          <p:cNvPr id="16" name="">
            <a:extLst xmlns:a="http://schemas.openxmlformats.org/drawingml/2006/main">
              <a:ext uri="{FF2B5EF4-FFF2-40B4-BE49-F238E27FC236}">
                <a16:creationId xmlns:a16="http://schemas.microsoft.com/office/drawing/2014/main" id="{340C4B1F-5C53-4271-AD98-F7F5ACA998BF}"/>
              </a:ext>
            </a:extLst>
          </p:cNvPr>
          <p:cNvSpPr>
            <a:spLocks xmlns:a="http://schemas.openxmlformats.org/drawingml/2006/main" noGrp="1"/>
          </p:cNvSpPr>
          <p:nvPr/>
        </p:nvSpPr>
        <p:spPr>
          <a:xfrm xmlns:a="http://schemas.openxmlformats.org/drawingml/2006/main">
            <a:off x="4314825" y="4048125"/>
            <a:ext cx="3562350" cy="1095375"/>
          </a:xfrm>
          <a:prstGeom xmlns:a="http://schemas.openxmlformats.org/drawingml/2006/main" prst="roundRect">
            <a:avLst>
              <a:gd name="adj" fmla="val 10435"/>
            </a:avLst>
          </a:prstGeom>
          <a:solidFill xmlns:a="http://schemas.openxmlformats.org/drawingml/2006/main">
            <a:srgbClr val="FBEAEC"/>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2B3CB80C-85E7-44B6-9647-F9FC9F324F99}"/>
              </a:ext>
            </a:extLst>
          </p:cNvPr>
          <p:cNvSpPr>
            <a:spLocks xmlns:a="http://schemas.openxmlformats.org/drawingml/2006/main" noGrp="1"/>
          </p:cNvSpPr>
          <p:nvPr/>
        </p:nvSpPr>
        <p:spPr>
          <a:xfrm xmlns:a="http://schemas.openxmlformats.org/drawingml/2006/main">
            <a:off x="4524375"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D924CF4D-D1D4-4E8D-BF98-45386E9B704B}"/>
              </a:ext>
            </a:extLst>
          </p:cNvPr>
          <p:cNvSpPr>
            <a:spLocks xmlns:a="http://schemas.openxmlformats.org/drawingml/2006/main" noGrp="1"/>
          </p:cNvSpPr>
          <p:nvPr/>
        </p:nvSpPr>
        <p:spPr>
          <a:xfrm xmlns:a="http://schemas.openxmlformats.org/drawingml/2006/main">
            <a:off x="5019675"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Must not approve</a:t>
            </a:r>
          </a:p>
        </p:txBody>
      </p:sp>
      <p:sp>
        <p:nvSpPr>
          <p:cNvPr id="19" name="">
            <a:extLst xmlns:a="http://schemas.openxmlformats.org/drawingml/2006/main">
              <a:ext uri="{FF2B5EF4-FFF2-40B4-BE49-F238E27FC236}">
                <a16:creationId xmlns:a16="http://schemas.microsoft.com/office/drawing/2014/main" id="{EA837ED5-CE8A-4747-B62A-0616A4A59ED2}"/>
              </a:ext>
            </a:extLst>
          </p:cNvPr>
          <p:cNvSpPr>
            <a:spLocks xmlns:a="http://schemas.openxmlformats.org/drawingml/2006/main" noGrp="1"/>
          </p:cNvSpPr>
          <p:nvPr/>
        </p:nvSpPr>
        <p:spPr>
          <a:xfrm xmlns:a="http://schemas.openxmlformats.org/drawingml/2006/main">
            <a:off x="8229600" y="4048125"/>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A17D2FC0-4B2F-4617-A837-00E6586410B9}"/>
              </a:ext>
            </a:extLst>
          </p:cNvPr>
          <p:cNvSpPr>
            <a:spLocks xmlns:a="http://schemas.openxmlformats.org/drawingml/2006/main" noGrp="1"/>
          </p:cNvSpPr>
          <p:nvPr/>
        </p:nvSpPr>
        <p:spPr>
          <a:xfrm xmlns:a="http://schemas.openxmlformats.org/drawingml/2006/main">
            <a:off x="843915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FEC426A6-7CA2-401E-8189-9C809B95C25B}"/>
              </a:ext>
            </a:extLst>
          </p:cNvPr>
          <p:cNvSpPr>
            <a:spLocks xmlns:a="http://schemas.openxmlformats.org/drawingml/2006/main" noGrp="1"/>
          </p:cNvSpPr>
          <p:nvPr/>
        </p:nvSpPr>
        <p:spPr>
          <a:xfrm xmlns:a="http://schemas.openxmlformats.org/drawingml/2006/main">
            <a:off x="893445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Must preserve uncertainty</a:t>
            </a:r>
          </a:p>
        </p:txBody>
      </p:sp>
      <p:sp>
        <p:nvSpPr>
          <p:cNvPr id="22" name="">
            <a:extLst xmlns:a="http://schemas.openxmlformats.org/drawingml/2006/main">
              <a:ext uri="{FF2B5EF4-FFF2-40B4-BE49-F238E27FC236}">
                <a16:creationId xmlns:a16="http://schemas.microsoft.com/office/drawing/2014/main" id="{59AC5C89-5A15-4208-8D1F-0F5477A422F1}"/>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315286F1-6767-42A0-AE25-74C12BC90FBA}"/>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02  •  CODE REVIEW HARNESS</a:t>
            </a:r>
          </a:p>
        </p:txBody>
      </p:sp>
      <p:sp>
        <p:nvSpPr>
          <p:cNvPr id="24" name="">
            <a:extLst xmlns:a="http://schemas.openxmlformats.org/drawingml/2006/main">
              <a:ext uri="{FF2B5EF4-FFF2-40B4-BE49-F238E27FC236}">
                <a16:creationId xmlns:a16="http://schemas.microsoft.com/office/drawing/2014/main" id="{BDCF6A7B-B9BB-45A2-9C28-920142B48DEE}"/>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06</a:t>
            </a:r>
          </a:p>
        </p:txBody>
      </p:sp>
    </p:spTree>
    <p:extLst>
      <p:ext uri="{BB962C8B-B14F-4D97-AF65-F5344CB8AC3E}">
        <p14:creationId xmlns:p14="http://schemas.microsoft.com/office/powerpoint/2010/main" val="1952667104"/>
      </p:ext>
    </p:extLst>
  </p:cSld>
</p:sld>
</file>

<file path=ppt/slides/slide7.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B770499-9F86-4998-B356-ACDD905A61A5}"/>
              </a:ext>
            </a:extLst>
          </p:cNvPr>
          <p:cNvSpPr>
            <a:spLocks xmlns:a="http://schemas.openxmlformats.org/drawingml/2006/main" noGrp="1"/>
          </p:cNvSpPr>
          <p:nvPr/>
        </p:nvSpPr>
        <p:spPr>
          <a:xfrm xmlns:a="http://schemas.openxmlformats.org/drawingml/2006/main">
            <a:off x="495300" y="4762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SESSION 02  •  EXIT TICKET</a:t>
            </a:r>
          </a:p>
        </p:txBody>
      </p:sp>
      <p:sp>
        <p:nvSpPr>
          <p:cNvPr id="2" name="">
            <a:extLst xmlns:a="http://schemas.openxmlformats.org/drawingml/2006/main">
              <a:ext uri="{FF2B5EF4-FFF2-40B4-BE49-F238E27FC236}">
                <a16:creationId xmlns:a16="http://schemas.microsoft.com/office/drawing/2014/main" id="{B3370C31-7218-4126-AC88-1D201C8F88D5}"/>
              </a:ext>
            </a:extLst>
          </p:cNvPr>
          <p:cNvSpPr>
            <a:spLocks xmlns:a="http://schemas.openxmlformats.org/drawingml/2006/main" noGrp="1"/>
          </p:cNvSpPr>
          <p:nvPr/>
        </p:nvSpPr>
        <p:spPr>
          <a:xfrm xmlns:a="http://schemas.openxmlformats.org/drawingml/2006/main">
            <a:off x="495300" y="1524000"/>
            <a:ext cx="10191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225" b="1">
                <a:solidFill>
                  <a:srgbClr val="FFFFFF"/>
                </a:solidFill>
                <a:latin typeface="Aptos"/>
                <a:ea typeface="Aptos"/>
                <a:cs typeface="Aptos"/>
              </a:defRPr>
            </a:pPr>
            <a:r>
              <a:rPr sz="3225" b="1">
                <a:solidFill>
                  <a:srgbClr val="FFFFFF"/>
                </a:solidFill>
                <a:latin typeface="Aptos"/>
                <a:ea typeface="Aptos"/>
                <a:cs typeface="Aptos"/>
              </a:rPr>
              <a:t>Turn an overconfident conclusion into an evidence-linked decision request.</a:t>
            </a:r>
          </a:p>
        </p:txBody>
      </p:sp>
      <p:sp>
        <p:nvSpPr>
          <p:cNvPr id="3" name="">
            <a:extLst xmlns:a="http://schemas.openxmlformats.org/drawingml/2006/main">
              <a:ext uri="{FF2B5EF4-FFF2-40B4-BE49-F238E27FC236}">
                <a16:creationId xmlns:a16="http://schemas.microsoft.com/office/drawing/2014/main" id="{F3E175EC-3A4F-44AB-BE76-D3E96BB1FE3A}"/>
              </a:ext>
            </a:extLst>
          </p:cNvPr>
          <p:cNvSpPr>
            <a:spLocks xmlns:a="http://schemas.openxmlformats.org/drawingml/2006/main" noGrp="1"/>
          </p:cNvSpPr>
          <p:nvPr/>
        </p:nvSpPr>
        <p:spPr>
          <a:xfrm xmlns:a="http://schemas.openxmlformats.org/drawingml/2006/main">
            <a:off x="495300" y="4381500"/>
            <a:ext cx="10668000" cy="28575"/>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4" name="">
            <a:extLst xmlns:a="http://schemas.openxmlformats.org/drawingml/2006/main">
              <a:ext uri="{FF2B5EF4-FFF2-40B4-BE49-F238E27FC236}">
                <a16:creationId xmlns:a16="http://schemas.microsoft.com/office/drawing/2014/main" id="{7D9FC008-5694-4021-AEC0-61C98ECAA5D9}"/>
              </a:ext>
            </a:extLst>
          </p:cNvPr>
          <p:cNvSpPr>
            <a:spLocks xmlns:a="http://schemas.openxmlformats.org/drawingml/2006/main" noGrp="1"/>
          </p:cNvSpPr>
          <p:nvPr/>
        </p:nvSpPr>
        <p:spPr>
          <a:xfrm xmlns:a="http://schemas.openxmlformats.org/drawingml/2006/main">
            <a:off x="495300" y="476250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D8E2EC"/>
                </a:solidFill>
                <a:latin typeface="Aptos"/>
                <a:ea typeface="Aptos"/>
                <a:cs typeface="Aptos"/>
              </a:defRPr>
            </a:pPr>
            <a:r>
              <a:rPr sz="1725" b="0">
                <a:solidFill>
                  <a:srgbClr val="D8E2EC"/>
                </a:solidFill>
                <a:latin typeface="Aptos"/>
                <a:ea typeface="Aptos"/>
                <a:cs typeface="Aptos"/>
              </a:rPr>
              <a:t>Answer with evidence. Name the contract, state, or authority boundary you used.</a:t>
            </a:r>
          </a:p>
        </p:txBody>
      </p:sp>
      <p:sp>
        <p:nvSpPr>
          <p:cNvPr id="5" name="">
            <a:extLst xmlns:a="http://schemas.openxmlformats.org/drawingml/2006/main">
              <a:ext uri="{FF2B5EF4-FFF2-40B4-BE49-F238E27FC236}">
                <a16:creationId xmlns:a16="http://schemas.microsoft.com/office/drawing/2014/main" id="{92EEB555-92E5-410C-BA9B-E015C94E524E}"/>
              </a:ext>
            </a:extLst>
          </p:cNvPr>
          <p:cNvSpPr>
            <a:spLocks xmlns:a="http://schemas.openxmlformats.org/drawingml/2006/main" noGrp="1"/>
          </p:cNvSpPr>
          <p:nvPr/>
        </p:nvSpPr>
        <p:spPr>
          <a:xfrm xmlns:a="http://schemas.openxmlformats.org/drawingml/2006/main">
            <a:off x="495300" y="60960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NEXT: SESSION 03</a:t>
            </a:r>
          </a:p>
        </p:txBody>
      </p:sp>
    </p:spTree>
    <p:extLst>
      <p:ext uri="{BB962C8B-B14F-4D97-AF65-F5344CB8AC3E}">
        <p14:creationId xmlns:p14="http://schemas.microsoft.com/office/powerpoint/2010/main" val="12728916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2026-07-30T15:54:28.1780000Z</dcterms:created>
  <dcterms:modified xsi:type="dcterms:W3CDTF">2026-07-30T15:54:28.1780000Z</dcterms:modified>
</coreProperties>
</file>